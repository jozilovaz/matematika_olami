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Source Sans 3" panose="020B0604020202020204" charset="0"/>
      <p:regular r:id="rId13"/>
    </p:embeddedFont>
    <p:embeddedFont>
      <p:font typeface="Source Serif 4 Semi Bold" panose="020B0604020202020204" charset="0"/>
      <p:regular r:id="rId14"/>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3" d="100"/>
          <a:sy n="53" d="100"/>
        </p:scale>
        <p:origin x="96"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226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3058716"/>
            <a:ext cx="7468553" cy="2112050"/>
          </a:xfrm>
          <a:prstGeom prst="rect">
            <a:avLst/>
          </a:prstGeom>
          <a:noFill/>
          <a:ln/>
        </p:spPr>
        <p:txBody>
          <a:bodyPr wrap="squar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Geografik koordinatalar, topografik xaritalar va ularning masshtabi</a:t>
            </a:r>
            <a:endParaRPr lang="en-US" sz="4400" dirty="0"/>
          </a:p>
        </p:txBody>
      </p:sp>
      <p:sp>
        <p:nvSpPr>
          <p:cNvPr id="4" name="Прямоугольник 3">
            <a:extLst>
              <a:ext uri="{FF2B5EF4-FFF2-40B4-BE49-F238E27FC236}">
                <a16:creationId xmlns:a16="http://schemas.microsoft.com/office/drawing/2014/main" id="{64F2249A-D1A0-4B2E-8574-A5AA65147121}"/>
              </a:ext>
            </a:extLst>
          </p:cNvPr>
          <p:cNvSpPr/>
          <p:nvPr/>
        </p:nvSpPr>
        <p:spPr>
          <a:xfrm>
            <a:off x="12753474" y="7716253"/>
            <a:ext cx="1876926" cy="513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3291"/>
          </a:xfrm>
          <a:prstGeom prst="rect">
            <a:avLst/>
          </a:prstGeom>
        </p:spPr>
      </p:pic>
      <p:sp>
        <p:nvSpPr>
          <p:cNvPr id="3" name="Text 0"/>
          <p:cNvSpPr/>
          <p:nvPr/>
        </p:nvSpPr>
        <p:spPr>
          <a:xfrm>
            <a:off x="6249948" y="599956"/>
            <a:ext cx="7616904" cy="1283494"/>
          </a:xfrm>
          <a:prstGeom prst="rect">
            <a:avLst/>
          </a:prstGeom>
          <a:noFill/>
          <a:ln/>
        </p:spPr>
        <p:txBody>
          <a:bodyPr wrap="square" lIns="0" tIns="0" rIns="0" bIns="0" rtlCol="0" anchor="t"/>
          <a:lstStyle/>
          <a:p>
            <a:pPr marL="0" indent="0" algn="l">
              <a:lnSpc>
                <a:spcPts val="5050"/>
              </a:lnSpc>
              <a:buNone/>
            </a:pPr>
            <a:r>
              <a:rPr lang="en-US" sz="4000" dirty="0">
                <a:solidFill>
                  <a:srgbClr val="000000"/>
                </a:solidFill>
                <a:latin typeface="Source Serif 4 Semi Bold" pitchFamily="34" charset="0"/>
                <a:ea typeface="Source Serif 4 Semi Bold" pitchFamily="34" charset="-122"/>
                <a:cs typeface="Source Serif 4 Semi Bold" pitchFamily="34" charset="-120"/>
              </a:rPr>
              <a:t>Geografik koordinatalar tizimi nima?</a:t>
            </a:r>
            <a:endParaRPr lang="en-US" sz="4000" dirty="0"/>
          </a:p>
        </p:txBody>
      </p:sp>
      <p:sp>
        <p:nvSpPr>
          <p:cNvPr id="4" name="Text 1"/>
          <p:cNvSpPr/>
          <p:nvPr/>
        </p:nvSpPr>
        <p:spPr>
          <a:xfrm>
            <a:off x="6249948" y="2210633"/>
            <a:ext cx="7616904" cy="1395889"/>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Source Sans 3" pitchFamily="34" charset="0"/>
                <a:ea typeface="Source Sans 3" pitchFamily="34" charset="-122"/>
                <a:cs typeface="Source Sans 3" pitchFamily="34" charset="-120"/>
              </a:rPr>
              <a:t>Geografik koordinatalar tizimi Yer yuzasidagi har bir nuqtani aniq belgilash uchun kenglik (latitude) va uzunlik (longitude)dan foydalanadigan universal tizimdir. Bu tizim navigatsiya, joylashuvni aniqlash va xaritalar yaratish uchun fundamental hisoblanadi.</a:t>
            </a:r>
            <a:endParaRPr lang="en-US" sz="1700" dirty="0"/>
          </a:p>
        </p:txBody>
      </p:sp>
      <p:sp>
        <p:nvSpPr>
          <p:cNvPr id="5" name="Shape 2"/>
          <p:cNvSpPr/>
          <p:nvPr/>
        </p:nvSpPr>
        <p:spPr>
          <a:xfrm>
            <a:off x="6249948" y="3851910"/>
            <a:ext cx="7616904" cy="2489121"/>
          </a:xfrm>
          <a:prstGeom prst="roundRect">
            <a:avLst>
              <a:gd name="adj" fmla="val 3681"/>
            </a:avLst>
          </a:prstGeom>
          <a:solidFill>
            <a:srgbClr val="F0D4F7"/>
          </a:solidFill>
          <a:ln w="7620">
            <a:solidFill>
              <a:srgbClr val="D6BADD"/>
            </a:solidFill>
            <a:prstDash val="solid"/>
          </a:ln>
        </p:spPr>
      </p:sp>
      <p:sp>
        <p:nvSpPr>
          <p:cNvPr id="6" name="Shape 3"/>
          <p:cNvSpPr/>
          <p:nvPr/>
        </p:nvSpPr>
        <p:spPr>
          <a:xfrm>
            <a:off x="6257568" y="3859530"/>
            <a:ext cx="7601664" cy="1236940"/>
          </a:xfrm>
          <a:prstGeom prst="roundRect">
            <a:avLst>
              <a:gd name="adj" fmla="val 7408"/>
            </a:avLst>
          </a:prstGeom>
          <a:solidFill>
            <a:srgbClr val="BE49DF"/>
          </a:solidFill>
          <a:ln/>
        </p:spPr>
      </p:sp>
      <p:sp>
        <p:nvSpPr>
          <p:cNvPr id="7" name="Text 4"/>
          <p:cNvSpPr/>
          <p:nvPr/>
        </p:nvSpPr>
        <p:spPr>
          <a:xfrm>
            <a:off x="6475690" y="4077653"/>
            <a:ext cx="2566630" cy="320873"/>
          </a:xfrm>
          <a:prstGeom prst="rect">
            <a:avLst/>
          </a:prstGeom>
          <a:noFill/>
          <a:ln/>
        </p:spPr>
        <p:txBody>
          <a:bodyPr wrap="none" lIns="0" tIns="0" rIns="0" bIns="0" rtlCol="0" anchor="t"/>
          <a:lstStyle/>
          <a:p>
            <a:pPr marL="0" indent="0" algn="l">
              <a:lnSpc>
                <a:spcPts val="2500"/>
              </a:lnSpc>
              <a:buNone/>
            </a:pPr>
            <a:r>
              <a:rPr lang="en-US" sz="2000" dirty="0">
                <a:solidFill>
                  <a:srgbClr val="FFFFFF"/>
                </a:solidFill>
                <a:latin typeface="Source Serif 4 Semi Bold" pitchFamily="34" charset="0"/>
                <a:ea typeface="Source Serif 4 Semi Bold" pitchFamily="34" charset="-122"/>
                <a:cs typeface="Source Serif 4 Semi Bold" pitchFamily="34" charset="-120"/>
              </a:rPr>
              <a:t>Kenglik (Latitude)</a:t>
            </a:r>
            <a:endParaRPr lang="en-US" sz="2000" dirty="0"/>
          </a:p>
        </p:txBody>
      </p:sp>
      <p:sp>
        <p:nvSpPr>
          <p:cNvPr id="8" name="Text 5"/>
          <p:cNvSpPr/>
          <p:nvPr/>
        </p:nvSpPr>
        <p:spPr>
          <a:xfrm>
            <a:off x="6475690" y="4529376"/>
            <a:ext cx="7165419" cy="348972"/>
          </a:xfrm>
          <a:prstGeom prst="rect">
            <a:avLst/>
          </a:prstGeom>
          <a:noFill/>
          <a:ln/>
        </p:spPr>
        <p:txBody>
          <a:bodyPr wrap="none" lIns="0" tIns="0" rIns="0" bIns="0" rtlCol="0" anchor="t"/>
          <a:lstStyle/>
          <a:p>
            <a:pPr marL="0" indent="0" algn="l">
              <a:lnSpc>
                <a:spcPts val="2700"/>
              </a:lnSpc>
              <a:buNone/>
            </a:pPr>
            <a:r>
              <a:rPr lang="en-US" sz="1700" dirty="0">
                <a:solidFill>
                  <a:srgbClr val="FFFFFF"/>
                </a:solidFill>
                <a:latin typeface="Source Sans 3" pitchFamily="34" charset="0"/>
                <a:ea typeface="Source Sans 3" pitchFamily="34" charset="-122"/>
                <a:cs typeface="Source Sans 3" pitchFamily="34" charset="-120"/>
              </a:rPr>
              <a:t>Ekvatorga nisbatan shimol yoki janubdagi burchak o‘lchovi.</a:t>
            </a:r>
            <a:endParaRPr lang="en-US" sz="1700" dirty="0"/>
          </a:p>
        </p:txBody>
      </p:sp>
      <p:sp>
        <p:nvSpPr>
          <p:cNvPr id="9" name="Shape 6"/>
          <p:cNvSpPr/>
          <p:nvPr/>
        </p:nvSpPr>
        <p:spPr>
          <a:xfrm>
            <a:off x="6257568" y="5096470"/>
            <a:ext cx="7601664" cy="1236940"/>
          </a:xfrm>
          <a:prstGeom prst="rect">
            <a:avLst/>
          </a:prstGeom>
          <a:solidFill>
            <a:srgbClr val="BE49DF"/>
          </a:solidFill>
          <a:ln/>
        </p:spPr>
      </p:sp>
      <p:sp>
        <p:nvSpPr>
          <p:cNvPr id="10" name="Shape 7"/>
          <p:cNvSpPr/>
          <p:nvPr/>
        </p:nvSpPr>
        <p:spPr>
          <a:xfrm>
            <a:off x="6257568" y="5096470"/>
            <a:ext cx="7601664" cy="30480"/>
          </a:xfrm>
          <a:prstGeom prst="roundRect">
            <a:avLst>
              <a:gd name="adj" fmla="val 300627"/>
            </a:avLst>
          </a:prstGeom>
          <a:solidFill>
            <a:srgbClr val="D762F8"/>
          </a:solidFill>
          <a:ln/>
        </p:spPr>
      </p:sp>
      <p:sp>
        <p:nvSpPr>
          <p:cNvPr id="11" name="Text 8"/>
          <p:cNvSpPr/>
          <p:nvPr/>
        </p:nvSpPr>
        <p:spPr>
          <a:xfrm>
            <a:off x="6475690" y="5314593"/>
            <a:ext cx="2566630" cy="320873"/>
          </a:xfrm>
          <a:prstGeom prst="rect">
            <a:avLst/>
          </a:prstGeom>
          <a:noFill/>
          <a:ln/>
        </p:spPr>
        <p:txBody>
          <a:bodyPr wrap="none" lIns="0" tIns="0" rIns="0" bIns="0" rtlCol="0" anchor="t"/>
          <a:lstStyle/>
          <a:p>
            <a:pPr marL="0" indent="0" algn="l">
              <a:lnSpc>
                <a:spcPts val="2500"/>
              </a:lnSpc>
              <a:buNone/>
            </a:pPr>
            <a:r>
              <a:rPr lang="en-US" sz="2000" dirty="0">
                <a:solidFill>
                  <a:srgbClr val="FFFFFF"/>
                </a:solidFill>
                <a:latin typeface="Source Serif 4 Semi Bold" pitchFamily="34" charset="0"/>
                <a:ea typeface="Source Serif 4 Semi Bold" pitchFamily="34" charset="-122"/>
                <a:cs typeface="Source Serif 4 Semi Bold" pitchFamily="34" charset="-120"/>
              </a:rPr>
              <a:t>Uzunlik (Longitude)</a:t>
            </a:r>
            <a:endParaRPr lang="en-US" sz="2000" dirty="0"/>
          </a:p>
        </p:txBody>
      </p:sp>
      <p:sp>
        <p:nvSpPr>
          <p:cNvPr id="12" name="Text 9"/>
          <p:cNvSpPr/>
          <p:nvPr/>
        </p:nvSpPr>
        <p:spPr>
          <a:xfrm>
            <a:off x="6475690" y="5766316"/>
            <a:ext cx="7165419" cy="348972"/>
          </a:xfrm>
          <a:prstGeom prst="rect">
            <a:avLst/>
          </a:prstGeom>
          <a:noFill/>
          <a:ln/>
        </p:spPr>
        <p:txBody>
          <a:bodyPr wrap="none" lIns="0" tIns="0" rIns="0" bIns="0" rtlCol="0" anchor="t"/>
          <a:lstStyle/>
          <a:p>
            <a:pPr marL="0" indent="0" algn="l">
              <a:lnSpc>
                <a:spcPts val="2700"/>
              </a:lnSpc>
              <a:buNone/>
            </a:pPr>
            <a:r>
              <a:rPr lang="en-US" sz="1700" dirty="0">
                <a:solidFill>
                  <a:srgbClr val="FFFFFF"/>
                </a:solidFill>
                <a:latin typeface="Source Sans 3" pitchFamily="34" charset="0"/>
                <a:ea typeface="Source Sans 3" pitchFamily="34" charset="-122"/>
                <a:cs typeface="Source Sans 3" pitchFamily="34" charset="-120"/>
              </a:rPr>
              <a:t>Grinvich meridianiga nisbatan sharq yoki g‘arbdagi burchak o‘lchovi.</a:t>
            </a:r>
            <a:endParaRPr lang="en-US" sz="1700" dirty="0"/>
          </a:p>
        </p:txBody>
      </p:sp>
      <p:sp>
        <p:nvSpPr>
          <p:cNvPr id="13" name="Text 10"/>
          <p:cNvSpPr/>
          <p:nvPr/>
        </p:nvSpPr>
        <p:spPr>
          <a:xfrm>
            <a:off x="6249948" y="6586418"/>
            <a:ext cx="7616904" cy="1046917"/>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Source Sans 3" pitchFamily="34" charset="0"/>
                <a:ea typeface="Source Sans 3" pitchFamily="34" charset="-122"/>
                <a:cs typeface="Source Sans 3" pitchFamily="34" charset="-120"/>
              </a:rPr>
              <a:t>Misol uchun, Toshkent shahrining geografik koordinatalari taxminan 41.3° Shimoliy kenglik va 69.3° Sharqiy uzunlikda joylashgan bo‘lib, bu ma'lumotlar orqali uning Yer yuzasidagi o'rnini aniq belgilash mumkin.</a:t>
            </a:r>
            <a:endParaRPr lang="en-US" sz="1700" dirty="0"/>
          </a:p>
        </p:txBody>
      </p:sp>
      <p:sp>
        <p:nvSpPr>
          <p:cNvPr id="14" name="Прямоугольник 13">
            <a:extLst>
              <a:ext uri="{FF2B5EF4-FFF2-40B4-BE49-F238E27FC236}">
                <a16:creationId xmlns:a16="http://schemas.microsoft.com/office/drawing/2014/main" id="{E077311D-801F-A19E-0DD1-071E131399F9}"/>
              </a:ext>
            </a:extLst>
          </p:cNvPr>
          <p:cNvSpPr/>
          <p:nvPr/>
        </p:nvSpPr>
        <p:spPr>
          <a:xfrm>
            <a:off x="12753474" y="7716253"/>
            <a:ext cx="1876926" cy="513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8629" y="360402"/>
            <a:ext cx="4982408" cy="385405"/>
          </a:xfrm>
          <a:prstGeom prst="rect">
            <a:avLst/>
          </a:prstGeom>
          <a:noFill/>
          <a:ln/>
        </p:spPr>
        <p:txBody>
          <a:bodyPr wrap="none" lIns="0" tIns="0" rIns="0" bIns="0" rtlCol="0" anchor="t"/>
          <a:lstStyle/>
          <a:p>
            <a:pPr marL="0" indent="0" algn="l">
              <a:lnSpc>
                <a:spcPts val="3000"/>
              </a:lnSpc>
              <a:buNone/>
            </a:pPr>
            <a:r>
              <a:rPr lang="en-US" sz="2400" dirty="0">
                <a:solidFill>
                  <a:srgbClr val="000000"/>
                </a:solidFill>
                <a:latin typeface="Source Serif 4 Semi Bold" pitchFamily="34" charset="0"/>
                <a:ea typeface="Source Serif 4 Semi Bold" pitchFamily="34" charset="-122"/>
                <a:cs typeface="Source Serif 4 Semi Bold" pitchFamily="34" charset="-120"/>
              </a:rPr>
              <a:t>Kenglik va Uzunlik tushunchalari</a:t>
            </a:r>
            <a:endParaRPr lang="en-US" sz="2400" dirty="0"/>
          </a:p>
        </p:txBody>
      </p:sp>
      <p:pic>
        <p:nvPicPr>
          <p:cNvPr id="3" name="Image 0" descr="preencoded.png"/>
          <p:cNvPicPr>
            <a:picLocks noChangeAspect="1"/>
          </p:cNvPicPr>
          <p:nvPr/>
        </p:nvPicPr>
        <p:blipFill>
          <a:blip r:embed="rId3"/>
          <a:stretch>
            <a:fillRect/>
          </a:stretch>
        </p:blipFill>
        <p:spPr>
          <a:xfrm>
            <a:off x="458629" y="1089779"/>
            <a:ext cx="6696670" cy="6696670"/>
          </a:xfrm>
          <a:prstGeom prst="rect">
            <a:avLst/>
          </a:prstGeom>
        </p:spPr>
      </p:pic>
      <p:sp>
        <p:nvSpPr>
          <p:cNvPr id="4" name="Text 1"/>
          <p:cNvSpPr/>
          <p:nvPr/>
        </p:nvSpPr>
        <p:spPr>
          <a:xfrm>
            <a:off x="458629" y="7933849"/>
            <a:ext cx="1541978" cy="192643"/>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Source Serif 4 Semi Bold" pitchFamily="34" charset="0"/>
                <a:ea typeface="Source Serif 4 Semi Bold" pitchFamily="34" charset="-122"/>
                <a:cs typeface="Source Serif 4 Semi Bold" pitchFamily="34" charset="-120"/>
              </a:rPr>
              <a:t>Kenglik (Latitude)</a:t>
            </a:r>
            <a:endParaRPr lang="en-US" sz="1200" dirty="0"/>
          </a:p>
        </p:txBody>
      </p:sp>
      <p:sp>
        <p:nvSpPr>
          <p:cNvPr id="5" name="Text 2"/>
          <p:cNvSpPr/>
          <p:nvPr/>
        </p:nvSpPr>
        <p:spPr>
          <a:xfrm>
            <a:off x="458629" y="8257461"/>
            <a:ext cx="6696670" cy="419338"/>
          </a:xfrm>
          <a:prstGeom prst="rect">
            <a:avLst/>
          </a:prstGeom>
          <a:noFill/>
          <a:ln/>
        </p:spPr>
        <p:txBody>
          <a:bodyPr wrap="square" lIns="0" tIns="0" rIns="0" bIns="0" rtlCol="0" anchor="t"/>
          <a:lstStyle/>
          <a:p>
            <a:pPr marL="0" indent="0" algn="l">
              <a:lnSpc>
                <a:spcPts val="1650"/>
              </a:lnSpc>
              <a:buNone/>
            </a:pPr>
            <a:r>
              <a:rPr lang="en-US" sz="1000" dirty="0">
                <a:solidFill>
                  <a:srgbClr val="272525"/>
                </a:solidFill>
                <a:latin typeface="Source Sans 3" pitchFamily="34" charset="0"/>
                <a:ea typeface="Source Sans 3" pitchFamily="34" charset="-122"/>
                <a:cs typeface="Source Sans 3" pitchFamily="34" charset="-120"/>
              </a:rPr>
              <a:t>Ekvator (0°) ga nisbatan shimol (N) yoki janub (S) tomon ±90° oralig‘ida o‘lchanadigan burchak masofa. U parallel chiziqlar bilan ifodalanadi.</a:t>
            </a:r>
            <a:endParaRPr lang="en-US" sz="1000" dirty="0"/>
          </a:p>
        </p:txBody>
      </p:sp>
      <p:sp>
        <p:nvSpPr>
          <p:cNvPr id="6" name="Text 3"/>
          <p:cNvSpPr/>
          <p:nvPr/>
        </p:nvSpPr>
        <p:spPr>
          <a:xfrm>
            <a:off x="458629" y="8794671"/>
            <a:ext cx="6696670" cy="209669"/>
          </a:xfrm>
          <a:prstGeom prst="rect">
            <a:avLst/>
          </a:prstGeom>
          <a:noFill/>
          <a:ln/>
        </p:spPr>
        <p:txBody>
          <a:bodyPr wrap="none" lIns="0" tIns="0" rIns="0" bIns="0" rtlCol="0" anchor="t"/>
          <a:lstStyle/>
          <a:p>
            <a:pPr marL="342900" indent="-342900" algn="l">
              <a:lnSpc>
                <a:spcPts val="1650"/>
              </a:lnSpc>
              <a:buSzPct val="100000"/>
              <a:buChar char="•"/>
            </a:pPr>
            <a:r>
              <a:rPr lang="en-US" sz="1000" dirty="0">
                <a:solidFill>
                  <a:srgbClr val="272525"/>
                </a:solidFill>
                <a:latin typeface="Source Sans 3" pitchFamily="34" charset="0"/>
                <a:ea typeface="Source Sans 3" pitchFamily="34" charset="-122"/>
                <a:cs typeface="Source Sans 3" pitchFamily="34" charset="-120"/>
              </a:rPr>
              <a:t>Shimoliy qutb: +90°</a:t>
            </a:r>
            <a:endParaRPr lang="en-US" sz="1000" dirty="0"/>
          </a:p>
        </p:txBody>
      </p:sp>
      <p:sp>
        <p:nvSpPr>
          <p:cNvPr id="7" name="Text 4"/>
          <p:cNvSpPr/>
          <p:nvPr/>
        </p:nvSpPr>
        <p:spPr>
          <a:xfrm>
            <a:off x="458629" y="9050179"/>
            <a:ext cx="6696670" cy="209669"/>
          </a:xfrm>
          <a:prstGeom prst="rect">
            <a:avLst/>
          </a:prstGeom>
          <a:noFill/>
          <a:ln/>
        </p:spPr>
        <p:txBody>
          <a:bodyPr wrap="none" lIns="0" tIns="0" rIns="0" bIns="0" rtlCol="0" anchor="t"/>
          <a:lstStyle/>
          <a:p>
            <a:pPr marL="342900" indent="-342900" algn="l">
              <a:lnSpc>
                <a:spcPts val="1650"/>
              </a:lnSpc>
              <a:buSzPct val="100000"/>
              <a:buChar char="•"/>
            </a:pPr>
            <a:r>
              <a:rPr lang="en-US" sz="1000" dirty="0">
                <a:solidFill>
                  <a:srgbClr val="272525"/>
                </a:solidFill>
                <a:latin typeface="Source Sans 3" pitchFamily="34" charset="0"/>
                <a:ea typeface="Source Sans 3" pitchFamily="34" charset="-122"/>
                <a:cs typeface="Source Sans 3" pitchFamily="34" charset="-120"/>
              </a:rPr>
              <a:t>Janubiy qutb: -90°</a:t>
            </a:r>
            <a:endParaRPr lang="en-US" sz="1000" dirty="0"/>
          </a:p>
        </p:txBody>
      </p:sp>
      <p:pic>
        <p:nvPicPr>
          <p:cNvPr id="8" name="Image 1" descr="preencoded.png"/>
          <p:cNvPicPr>
            <a:picLocks noChangeAspect="1"/>
          </p:cNvPicPr>
          <p:nvPr/>
        </p:nvPicPr>
        <p:blipFill>
          <a:blip r:embed="rId4"/>
          <a:stretch>
            <a:fillRect/>
          </a:stretch>
        </p:blipFill>
        <p:spPr>
          <a:xfrm>
            <a:off x="7482721" y="1089779"/>
            <a:ext cx="6696670" cy="6696670"/>
          </a:xfrm>
          <a:prstGeom prst="rect">
            <a:avLst/>
          </a:prstGeom>
        </p:spPr>
      </p:pic>
      <p:sp>
        <p:nvSpPr>
          <p:cNvPr id="9" name="Text 5"/>
          <p:cNvSpPr/>
          <p:nvPr/>
        </p:nvSpPr>
        <p:spPr>
          <a:xfrm>
            <a:off x="7482721" y="7933849"/>
            <a:ext cx="1541978" cy="192643"/>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Source Serif 4 Semi Bold" pitchFamily="34" charset="0"/>
                <a:ea typeface="Source Serif 4 Semi Bold" pitchFamily="34" charset="-122"/>
                <a:cs typeface="Source Serif 4 Semi Bold" pitchFamily="34" charset="-120"/>
              </a:rPr>
              <a:t>Uzunlik (Longitude)</a:t>
            </a:r>
            <a:endParaRPr lang="en-US" sz="1200" dirty="0"/>
          </a:p>
        </p:txBody>
      </p:sp>
      <p:sp>
        <p:nvSpPr>
          <p:cNvPr id="10" name="Text 6"/>
          <p:cNvSpPr/>
          <p:nvPr/>
        </p:nvSpPr>
        <p:spPr>
          <a:xfrm>
            <a:off x="7482721" y="8257461"/>
            <a:ext cx="6696670" cy="419338"/>
          </a:xfrm>
          <a:prstGeom prst="rect">
            <a:avLst/>
          </a:prstGeom>
          <a:noFill/>
          <a:ln/>
        </p:spPr>
        <p:txBody>
          <a:bodyPr wrap="square" lIns="0" tIns="0" rIns="0" bIns="0" rtlCol="0" anchor="t"/>
          <a:lstStyle/>
          <a:p>
            <a:pPr marL="0" indent="0" algn="l">
              <a:lnSpc>
                <a:spcPts val="1650"/>
              </a:lnSpc>
              <a:buNone/>
            </a:pPr>
            <a:r>
              <a:rPr lang="en-US" sz="1000" dirty="0">
                <a:solidFill>
                  <a:srgbClr val="272525"/>
                </a:solidFill>
                <a:latin typeface="Source Sans 3" pitchFamily="34" charset="0"/>
                <a:ea typeface="Source Sans 3" pitchFamily="34" charset="-122"/>
                <a:cs typeface="Source Sans 3" pitchFamily="34" charset="-120"/>
              </a:rPr>
              <a:t>Grinvich meridiani (0°) ga nisbatan sharq (E) yoki g‘arb (W) tomon ±180° oralig‘ida o‘lchanadigan burchak masofa. U meridian chiziqlari bilan ifodalanadi.</a:t>
            </a:r>
            <a:endParaRPr lang="en-US" sz="1000" dirty="0"/>
          </a:p>
        </p:txBody>
      </p:sp>
      <p:sp>
        <p:nvSpPr>
          <p:cNvPr id="11" name="Text 7"/>
          <p:cNvSpPr/>
          <p:nvPr/>
        </p:nvSpPr>
        <p:spPr>
          <a:xfrm>
            <a:off x="7482721" y="8794671"/>
            <a:ext cx="6696670" cy="209669"/>
          </a:xfrm>
          <a:prstGeom prst="rect">
            <a:avLst/>
          </a:prstGeom>
          <a:noFill/>
          <a:ln/>
        </p:spPr>
        <p:txBody>
          <a:bodyPr wrap="none" lIns="0" tIns="0" rIns="0" bIns="0" rtlCol="0" anchor="t"/>
          <a:lstStyle/>
          <a:p>
            <a:pPr marL="342900" indent="-342900" algn="l">
              <a:lnSpc>
                <a:spcPts val="1650"/>
              </a:lnSpc>
              <a:buSzPct val="100000"/>
              <a:buChar char="•"/>
            </a:pPr>
            <a:r>
              <a:rPr lang="en-US" sz="1000" dirty="0">
                <a:solidFill>
                  <a:srgbClr val="272525"/>
                </a:solidFill>
                <a:latin typeface="Source Sans 3" pitchFamily="34" charset="0"/>
                <a:ea typeface="Source Sans 3" pitchFamily="34" charset="-122"/>
                <a:cs typeface="Source Sans 3" pitchFamily="34" charset="-120"/>
              </a:rPr>
              <a:t>Sharqiy yarimshar: +180° gacha</a:t>
            </a:r>
            <a:endParaRPr lang="en-US" sz="1000" dirty="0"/>
          </a:p>
        </p:txBody>
      </p:sp>
      <p:sp>
        <p:nvSpPr>
          <p:cNvPr id="12" name="Text 8"/>
          <p:cNvSpPr/>
          <p:nvPr/>
        </p:nvSpPr>
        <p:spPr>
          <a:xfrm>
            <a:off x="7482721" y="9050179"/>
            <a:ext cx="6696670" cy="209669"/>
          </a:xfrm>
          <a:prstGeom prst="rect">
            <a:avLst/>
          </a:prstGeom>
          <a:noFill/>
          <a:ln/>
        </p:spPr>
        <p:txBody>
          <a:bodyPr wrap="none" lIns="0" tIns="0" rIns="0" bIns="0" rtlCol="0" anchor="t"/>
          <a:lstStyle/>
          <a:p>
            <a:pPr marL="342900" indent="-342900" algn="l">
              <a:lnSpc>
                <a:spcPts val="1650"/>
              </a:lnSpc>
              <a:buSzPct val="100000"/>
              <a:buChar char="•"/>
            </a:pPr>
            <a:r>
              <a:rPr lang="en-US" sz="1000" dirty="0">
                <a:solidFill>
                  <a:srgbClr val="272525"/>
                </a:solidFill>
                <a:latin typeface="Source Sans 3" pitchFamily="34" charset="0"/>
                <a:ea typeface="Source Sans 3" pitchFamily="34" charset="-122"/>
                <a:cs typeface="Source Sans 3" pitchFamily="34" charset="-120"/>
              </a:rPr>
              <a:t>G‘arbiy yarimshar: -180° gacha</a:t>
            </a:r>
            <a:endParaRPr lang="en-US" sz="1000" dirty="0"/>
          </a:p>
        </p:txBody>
      </p:sp>
      <p:sp>
        <p:nvSpPr>
          <p:cNvPr id="13" name="Text 9"/>
          <p:cNvSpPr/>
          <p:nvPr/>
        </p:nvSpPr>
        <p:spPr>
          <a:xfrm>
            <a:off x="458629" y="9453086"/>
            <a:ext cx="13713143" cy="209669"/>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Source Sans 3" pitchFamily="34" charset="0"/>
                <a:ea typeface="Source Sans 3" pitchFamily="34" charset="-122"/>
                <a:cs typeface="Source Sans 3" pitchFamily="34" charset="-120"/>
              </a:rPr>
              <a:t>Koordinatalar ikki asosiy formatda ifodalanadi: o‘nlik darajalar (masalan, 41.3, 69.3) va daraja, daqiqa, soniya (DMS) (masalan, 41°18'N, 69°18'E). Bu formatlar turli xaritagrafik va navigatsiya tizimlarida qo‘llaniladi.</a:t>
            </a:r>
            <a:endParaRPr lang="en-US" sz="1000" dirty="0"/>
          </a:p>
        </p:txBody>
      </p:sp>
      <p:sp>
        <p:nvSpPr>
          <p:cNvPr id="14" name="Прямоугольник 13">
            <a:extLst>
              <a:ext uri="{FF2B5EF4-FFF2-40B4-BE49-F238E27FC236}">
                <a16:creationId xmlns:a16="http://schemas.microsoft.com/office/drawing/2014/main" id="{4F8E1A95-53EA-8ADE-787E-7E5BAEC4CB36}"/>
              </a:ext>
            </a:extLst>
          </p:cNvPr>
          <p:cNvSpPr/>
          <p:nvPr/>
        </p:nvSpPr>
        <p:spPr>
          <a:xfrm>
            <a:off x="12753474" y="7716253"/>
            <a:ext cx="1876926" cy="513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1862"/>
          </a:xfrm>
          <a:prstGeom prst="rect">
            <a:avLst/>
          </a:prstGeom>
        </p:spPr>
      </p:pic>
      <p:sp>
        <p:nvSpPr>
          <p:cNvPr id="3" name="Text 0"/>
          <p:cNvSpPr/>
          <p:nvPr/>
        </p:nvSpPr>
        <p:spPr>
          <a:xfrm>
            <a:off x="6193988" y="555903"/>
            <a:ext cx="7728823" cy="1188958"/>
          </a:xfrm>
          <a:prstGeom prst="rect">
            <a:avLst/>
          </a:prstGeom>
          <a:noFill/>
          <a:ln/>
        </p:spPr>
        <p:txBody>
          <a:bodyPr wrap="square" lIns="0" tIns="0" rIns="0" bIns="0" rtlCol="0" anchor="t"/>
          <a:lstStyle/>
          <a:p>
            <a:pPr marL="0" indent="0" algn="l">
              <a:lnSpc>
                <a:spcPts val="4650"/>
              </a:lnSpc>
              <a:buNone/>
            </a:pPr>
            <a:r>
              <a:rPr lang="en-US" sz="3700" dirty="0">
                <a:solidFill>
                  <a:srgbClr val="000000"/>
                </a:solidFill>
                <a:latin typeface="Source Serif 4 Semi Bold" pitchFamily="34" charset="0"/>
                <a:ea typeface="Source Serif 4 Semi Bold" pitchFamily="34" charset="-122"/>
                <a:cs typeface="Source Serif 4 Semi Bold" pitchFamily="34" charset="-120"/>
              </a:rPr>
              <a:t>Topografik xaritalar va ularning vazifasi</a:t>
            </a:r>
            <a:endParaRPr lang="en-US" sz="3700" dirty="0"/>
          </a:p>
        </p:txBody>
      </p:sp>
      <p:sp>
        <p:nvSpPr>
          <p:cNvPr id="4" name="Text 1"/>
          <p:cNvSpPr/>
          <p:nvPr/>
        </p:nvSpPr>
        <p:spPr>
          <a:xfrm>
            <a:off x="6193988" y="2048113"/>
            <a:ext cx="7728823" cy="970121"/>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Source Sans 3" pitchFamily="34" charset="0"/>
                <a:ea typeface="Source Sans 3" pitchFamily="34" charset="-122"/>
                <a:cs typeface="Source Sans 3" pitchFamily="34" charset="-120"/>
              </a:rPr>
              <a:t>Topografik xaritalar Yer yuzasining tabiiy va sun’iy xususiyatlarini batafsil aks ettiruvchi maxsus xaritalardir. Ular relyefni, o‘simlik qoplamini, suv havzalarini, yo‘llarni va inson faoliyati natijasida yaratilgan obyektlarni ko‘rsatadi.</a:t>
            </a:r>
            <a:endParaRPr lang="en-US" sz="1550" dirty="0"/>
          </a:p>
        </p:txBody>
      </p:sp>
      <p:sp>
        <p:nvSpPr>
          <p:cNvPr id="5" name="Shape 2"/>
          <p:cNvSpPr/>
          <p:nvPr/>
        </p:nvSpPr>
        <p:spPr>
          <a:xfrm>
            <a:off x="6193988" y="3245644"/>
            <a:ext cx="7728823" cy="1515308"/>
          </a:xfrm>
          <a:prstGeom prst="roundRect">
            <a:avLst>
              <a:gd name="adj" fmla="val 7241"/>
            </a:avLst>
          </a:prstGeom>
          <a:solidFill>
            <a:srgbClr val="FFFFFF">
              <a:alpha val="95000"/>
            </a:srgbClr>
          </a:solidFill>
          <a:ln w="22860">
            <a:solidFill>
              <a:srgbClr val="D6BADD"/>
            </a:solidFill>
            <a:prstDash val="solid"/>
          </a:ln>
        </p:spPr>
      </p:sp>
      <p:sp>
        <p:nvSpPr>
          <p:cNvPr id="6" name="Shape 3"/>
          <p:cNvSpPr/>
          <p:nvPr/>
        </p:nvSpPr>
        <p:spPr>
          <a:xfrm>
            <a:off x="6171128" y="3245644"/>
            <a:ext cx="91440" cy="1515308"/>
          </a:xfrm>
          <a:prstGeom prst="roundRect">
            <a:avLst>
              <a:gd name="adj" fmla="val 92861"/>
            </a:avLst>
          </a:prstGeom>
          <a:solidFill>
            <a:srgbClr val="BE49DF"/>
          </a:solidFill>
          <a:ln/>
        </p:spPr>
      </p:sp>
      <p:sp>
        <p:nvSpPr>
          <p:cNvPr id="7" name="Text 4"/>
          <p:cNvSpPr/>
          <p:nvPr/>
        </p:nvSpPr>
        <p:spPr>
          <a:xfrm>
            <a:off x="6487597" y="3470672"/>
            <a:ext cx="2378393" cy="297299"/>
          </a:xfrm>
          <a:prstGeom prst="rect">
            <a:avLst/>
          </a:prstGeom>
          <a:noFill/>
          <a:ln/>
        </p:spPr>
        <p:txBody>
          <a:bodyPr wrap="none" lIns="0" tIns="0" rIns="0" bIns="0" rtlCol="0" anchor="t"/>
          <a:lstStyle/>
          <a:p>
            <a:pPr marL="0" indent="0" algn="l">
              <a:lnSpc>
                <a:spcPts val="2300"/>
              </a:lnSpc>
              <a:buNone/>
            </a:pPr>
            <a:r>
              <a:rPr lang="en-US" sz="1850" dirty="0">
                <a:solidFill>
                  <a:srgbClr val="272525"/>
                </a:solidFill>
                <a:latin typeface="Source Serif 4 Semi Bold" pitchFamily="34" charset="0"/>
                <a:ea typeface="Source Serif 4 Semi Bold" pitchFamily="34" charset="-122"/>
                <a:cs typeface="Source Serif 4 Semi Bold" pitchFamily="34" charset="-120"/>
              </a:rPr>
              <a:t>Relyefni tasvirlash</a:t>
            </a:r>
            <a:endParaRPr lang="en-US" sz="1850" dirty="0"/>
          </a:p>
        </p:txBody>
      </p:sp>
      <p:sp>
        <p:nvSpPr>
          <p:cNvPr id="8" name="Text 5"/>
          <p:cNvSpPr/>
          <p:nvPr/>
        </p:nvSpPr>
        <p:spPr>
          <a:xfrm>
            <a:off x="6487597" y="3889177"/>
            <a:ext cx="7210187" cy="64674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Source Sans 3" pitchFamily="34" charset="0"/>
                <a:ea typeface="Source Sans 3" pitchFamily="34" charset="-122"/>
                <a:cs typeface="Source Sans 3" pitchFamily="34" charset="-120"/>
              </a:rPr>
              <a:t>Gorizontallar (bir xil balandlikdagi nuqtalarni birlashtiruvchi chiziqlar) yordamida balandlik va chuqurliklar aniq ifodalanadi.</a:t>
            </a:r>
            <a:endParaRPr lang="en-US" sz="1550" dirty="0"/>
          </a:p>
        </p:txBody>
      </p:sp>
      <p:sp>
        <p:nvSpPr>
          <p:cNvPr id="9" name="Shape 6"/>
          <p:cNvSpPr/>
          <p:nvPr/>
        </p:nvSpPr>
        <p:spPr>
          <a:xfrm>
            <a:off x="6193988" y="4963120"/>
            <a:ext cx="7728823" cy="1515308"/>
          </a:xfrm>
          <a:prstGeom prst="roundRect">
            <a:avLst>
              <a:gd name="adj" fmla="val 7241"/>
            </a:avLst>
          </a:prstGeom>
          <a:solidFill>
            <a:srgbClr val="FFFFFF">
              <a:alpha val="95000"/>
            </a:srgbClr>
          </a:solidFill>
          <a:ln w="22860">
            <a:solidFill>
              <a:srgbClr val="D6BADD"/>
            </a:solidFill>
            <a:prstDash val="solid"/>
          </a:ln>
        </p:spPr>
      </p:sp>
      <p:sp>
        <p:nvSpPr>
          <p:cNvPr id="10" name="Shape 7"/>
          <p:cNvSpPr/>
          <p:nvPr/>
        </p:nvSpPr>
        <p:spPr>
          <a:xfrm>
            <a:off x="6171128" y="4963120"/>
            <a:ext cx="91440" cy="1515308"/>
          </a:xfrm>
          <a:prstGeom prst="roundRect">
            <a:avLst>
              <a:gd name="adj" fmla="val 92861"/>
            </a:avLst>
          </a:prstGeom>
          <a:solidFill>
            <a:srgbClr val="BE49DF"/>
          </a:solidFill>
          <a:ln/>
        </p:spPr>
      </p:sp>
      <p:sp>
        <p:nvSpPr>
          <p:cNvPr id="11" name="Text 8"/>
          <p:cNvSpPr/>
          <p:nvPr/>
        </p:nvSpPr>
        <p:spPr>
          <a:xfrm>
            <a:off x="6487597" y="5188148"/>
            <a:ext cx="2378393" cy="297299"/>
          </a:xfrm>
          <a:prstGeom prst="rect">
            <a:avLst/>
          </a:prstGeom>
          <a:noFill/>
          <a:ln/>
        </p:spPr>
        <p:txBody>
          <a:bodyPr wrap="none" lIns="0" tIns="0" rIns="0" bIns="0" rtlCol="0" anchor="t"/>
          <a:lstStyle/>
          <a:p>
            <a:pPr marL="0" indent="0" algn="l">
              <a:lnSpc>
                <a:spcPts val="2300"/>
              </a:lnSpc>
              <a:buNone/>
            </a:pPr>
            <a:r>
              <a:rPr lang="en-US" sz="1850" dirty="0">
                <a:solidFill>
                  <a:srgbClr val="272525"/>
                </a:solidFill>
                <a:latin typeface="Source Serif 4 Semi Bold" pitchFamily="34" charset="0"/>
                <a:ea typeface="Source Serif 4 Semi Bold" pitchFamily="34" charset="-122"/>
                <a:cs typeface="Source Serif 4 Semi Bold" pitchFamily="34" charset="-120"/>
              </a:rPr>
              <a:t>Amaliy qo'llanilish</a:t>
            </a:r>
            <a:endParaRPr lang="en-US" sz="1850" dirty="0"/>
          </a:p>
        </p:txBody>
      </p:sp>
      <p:sp>
        <p:nvSpPr>
          <p:cNvPr id="12" name="Text 9"/>
          <p:cNvSpPr/>
          <p:nvPr/>
        </p:nvSpPr>
        <p:spPr>
          <a:xfrm>
            <a:off x="6487597" y="5606653"/>
            <a:ext cx="7210187" cy="64674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Source Sans 3" pitchFamily="34" charset="0"/>
                <a:ea typeface="Source Sans 3" pitchFamily="34" charset="-122"/>
                <a:cs typeface="Source Sans 3" pitchFamily="34" charset="-120"/>
              </a:rPr>
              <a:t>Muhandislik, harbiy strategiya, geologik tadqiqotlar, turizm va tog‘ alpinizmi kabi sohalarda muhim vosita hisoblanadi.</a:t>
            </a:r>
            <a:endParaRPr lang="en-US" sz="1550" dirty="0"/>
          </a:p>
        </p:txBody>
      </p:sp>
      <p:sp>
        <p:nvSpPr>
          <p:cNvPr id="13" name="Text 10"/>
          <p:cNvSpPr/>
          <p:nvPr/>
        </p:nvSpPr>
        <p:spPr>
          <a:xfrm>
            <a:off x="6193988" y="6705838"/>
            <a:ext cx="7728823" cy="970121"/>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Source Sans 3" pitchFamily="34" charset="0"/>
                <a:ea typeface="Source Sans 3" pitchFamily="34" charset="-122"/>
                <a:cs typeface="Source Sans 3" pitchFamily="34" charset="-120"/>
              </a:rPr>
              <a:t>Misol uchun, O‘zbekistonning tog‘li hududlari, jumladan, Chimyon yoki Hisor tog‘ tizmalari topografik xaritalarda relyefning har bir egri-bugri joyini, daryo o‘zanlari va yo‘l tarmoqlarini aniq ko‘rsatadi.</a:t>
            </a:r>
            <a:endParaRPr lang="en-US" sz="1550" dirty="0"/>
          </a:p>
        </p:txBody>
      </p:sp>
      <p:sp>
        <p:nvSpPr>
          <p:cNvPr id="14" name="Прямоугольник 13">
            <a:extLst>
              <a:ext uri="{FF2B5EF4-FFF2-40B4-BE49-F238E27FC236}">
                <a16:creationId xmlns:a16="http://schemas.microsoft.com/office/drawing/2014/main" id="{7AB3A693-41EB-B4D0-6D7B-761F7EA49032}"/>
              </a:ext>
            </a:extLst>
          </p:cNvPr>
          <p:cNvSpPr/>
          <p:nvPr/>
        </p:nvSpPr>
        <p:spPr>
          <a:xfrm>
            <a:off x="12753474" y="7716253"/>
            <a:ext cx="1876926" cy="513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00167" y="623054"/>
            <a:ext cx="5557957" cy="515779"/>
          </a:xfrm>
          <a:prstGeom prst="rect">
            <a:avLst/>
          </a:prstGeom>
          <a:noFill/>
          <a:ln/>
        </p:spPr>
        <p:txBody>
          <a:bodyPr wrap="none" lIns="0" tIns="0" rIns="0" bIns="0" rtlCol="0" anchor="t"/>
          <a:lstStyle/>
          <a:p>
            <a:pPr marL="0" indent="0" algn="l">
              <a:lnSpc>
                <a:spcPts val="4050"/>
              </a:lnSpc>
              <a:buNone/>
            </a:pPr>
            <a:r>
              <a:rPr lang="en-US" sz="3200" dirty="0">
                <a:solidFill>
                  <a:srgbClr val="000000"/>
                </a:solidFill>
                <a:latin typeface="Source Serif 4 Semi Bold" pitchFamily="34" charset="0"/>
                <a:ea typeface="Source Serif 4 Semi Bold" pitchFamily="34" charset="-122"/>
                <a:cs typeface="Source Serif 4 Semi Bold" pitchFamily="34" charset="-120"/>
              </a:rPr>
              <a:t>Xaritalar va ularning turlari</a:t>
            </a:r>
            <a:endParaRPr lang="en-US" sz="3200" dirty="0"/>
          </a:p>
        </p:txBody>
      </p:sp>
      <p:sp>
        <p:nvSpPr>
          <p:cNvPr id="4" name="Text 1"/>
          <p:cNvSpPr/>
          <p:nvPr/>
        </p:nvSpPr>
        <p:spPr>
          <a:xfrm>
            <a:off x="6100167" y="1401842"/>
            <a:ext cx="7916466" cy="561023"/>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Source Sans 3" pitchFamily="34" charset="0"/>
                <a:ea typeface="Source Sans 3" pitchFamily="34" charset="-122"/>
                <a:cs typeface="Source Sans 3" pitchFamily="34" charset="-120"/>
              </a:rPr>
              <a:t>Xaritalar Yer yuzasining yoki uning bir qismining ma'lumotlarini qog'oz yoki raqamli shaklda aks ettiruvchi tasvirlardir. Ular turli maqsadlar va ma'lumotlarni taqdim etish usullariga ko'ra bir necha turlarga bo'linadi.</a:t>
            </a:r>
            <a:endParaRPr lang="en-US" sz="1350" dirty="0"/>
          </a:p>
        </p:txBody>
      </p:sp>
      <p:pic>
        <p:nvPicPr>
          <p:cNvPr id="5" name="Image 1" descr="preencoded.png"/>
          <p:cNvPicPr>
            <a:picLocks noChangeAspect="1"/>
          </p:cNvPicPr>
          <p:nvPr/>
        </p:nvPicPr>
        <p:blipFill>
          <a:blip r:embed="rId4"/>
          <a:stretch>
            <a:fillRect/>
          </a:stretch>
        </p:blipFill>
        <p:spPr>
          <a:xfrm>
            <a:off x="6100167" y="2160151"/>
            <a:ext cx="438388" cy="438388"/>
          </a:xfrm>
          <a:prstGeom prst="rect">
            <a:avLst/>
          </a:prstGeom>
        </p:spPr>
      </p:pic>
      <p:sp>
        <p:nvSpPr>
          <p:cNvPr id="6" name="Text 2"/>
          <p:cNvSpPr/>
          <p:nvPr/>
        </p:nvSpPr>
        <p:spPr>
          <a:xfrm>
            <a:off x="6100167" y="2817733"/>
            <a:ext cx="2549247" cy="257889"/>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Umumgeografik xaritalar</a:t>
            </a:r>
            <a:endParaRPr lang="en-US" sz="1600" dirty="0"/>
          </a:p>
        </p:txBody>
      </p:sp>
      <p:sp>
        <p:nvSpPr>
          <p:cNvPr id="7" name="Text 3"/>
          <p:cNvSpPr/>
          <p:nvPr/>
        </p:nvSpPr>
        <p:spPr>
          <a:xfrm>
            <a:off x="6100167" y="3180755"/>
            <a:ext cx="7916466" cy="561023"/>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Source Sans 3" pitchFamily="34" charset="0"/>
                <a:ea typeface="Source Sans 3" pitchFamily="34" charset="-122"/>
                <a:cs typeface="Source Sans 3" pitchFamily="34" charset="-120"/>
              </a:rPr>
              <a:t>Dunyo, materik, mamlakat xaritalari bo‘lib, asosan relyef, gidrografiya, aholi punktlari va aloqa yo‘llarini umumiy tarzda ko‘rsatadi.</a:t>
            </a:r>
            <a:endParaRPr lang="en-US" sz="1350" dirty="0"/>
          </a:p>
        </p:txBody>
      </p:sp>
      <p:pic>
        <p:nvPicPr>
          <p:cNvPr id="8" name="Image 2" descr="preencoded.png"/>
          <p:cNvPicPr>
            <a:picLocks noChangeAspect="1"/>
          </p:cNvPicPr>
          <p:nvPr/>
        </p:nvPicPr>
        <p:blipFill>
          <a:blip r:embed="rId5"/>
          <a:stretch>
            <a:fillRect/>
          </a:stretch>
        </p:blipFill>
        <p:spPr>
          <a:xfrm>
            <a:off x="6100167" y="4092535"/>
            <a:ext cx="438388" cy="438388"/>
          </a:xfrm>
          <a:prstGeom prst="rect">
            <a:avLst/>
          </a:prstGeom>
        </p:spPr>
      </p:pic>
      <p:sp>
        <p:nvSpPr>
          <p:cNvPr id="9" name="Text 4"/>
          <p:cNvSpPr/>
          <p:nvPr/>
        </p:nvSpPr>
        <p:spPr>
          <a:xfrm>
            <a:off x="6100167" y="4750117"/>
            <a:ext cx="2726055" cy="257889"/>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Mavzuli (Tematik) xaritalar</a:t>
            </a:r>
            <a:endParaRPr lang="en-US" sz="1600" dirty="0"/>
          </a:p>
        </p:txBody>
      </p:sp>
      <p:sp>
        <p:nvSpPr>
          <p:cNvPr id="10" name="Text 5"/>
          <p:cNvSpPr/>
          <p:nvPr/>
        </p:nvSpPr>
        <p:spPr>
          <a:xfrm>
            <a:off x="6100167" y="5113139"/>
            <a:ext cx="7916466" cy="561023"/>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Source Sans 3" pitchFamily="34" charset="0"/>
                <a:ea typeface="Source Sans 3" pitchFamily="34" charset="-122"/>
                <a:cs typeface="Source Sans 3" pitchFamily="34" charset="-120"/>
              </a:rPr>
              <a:t>Ma'lum bir mavzuga bag'ishlangan, masalan, iqlim, tuproq, aholi zichligi, foydali qazilmalar, siyosiy yoki iqtisodiy ma'lumotlarni aks ettiruvchi xaritalar.</a:t>
            </a:r>
            <a:endParaRPr lang="en-US" sz="1350" dirty="0"/>
          </a:p>
        </p:txBody>
      </p:sp>
      <p:pic>
        <p:nvPicPr>
          <p:cNvPr id="11" name="Image 3" descr="preencoded.png"/>
          <p:cNvPicPr>
            <a:picLocks noChangeAspect="1"/>
          </p:cNvPicPr>
          <p:nvPr/>
        </p:nvPicPr>
        <p:blipFill>
          <a:blip r:embed="rId6"/>
          <a:stretch>
            <a:fillRect/>
          </a:stretch>
        </p:blipFill>
        <p:spPr>
          <a:xfrm>
            <a:off x="6100167" y="6024920"/>
            <a:ext cx="438388" cy="438388"/>
          </a:xfrm>
          <a:prstGeom prst="rect">
            <a:avLst/>
          </a:prstGeom>
        </p:spPr>
      </p:pic>
      <p:sp>
        <p:nvSpPr>
          <p:cNvPr id="12" name="Text 6"/>
          <p:cNvSpPr/>
          <p:nvPr/>
        </p:nvSpPr>
        <p:spPr>
          <a:xfrm>
            <a:off x="6100167" y="6682502"/>
            <a:ext cx="2063353" cy="257889"/>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Maxsus xaritalar</a:t>
            </a:r>
            <a:endParaRPr lang="en-US" sz="1600" dirty="0"/>
          </a:p>
        </p:txBody>
      </p:sp>
      <p:sp>
        <p:nvSpPr>
          <p:cNvPr id="13" name="Text 7"/>
          <p:cNvSpPr/>
          <p:nvPr/>
        </p:nvSpPr>
        <p:spPr>
          <a:xfrm>
            <a:off x="6100167" y="7045523"/>
            <a:ext cx="7916466" cy="561023"/>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Source Sans 3" pitchFamily="34" charset="0"/>
                <a:ea typeface="Source Sans 3" pitchFamily="34" charset="-122"/>
                <a:cs typeface="Source Sans 3" pitchFamily="34" charset="-120"/>
              </a:rPr>
              <a:t>Navigatsiya (dengiz va havo yo‘llari), turistik marshrutlar, o‘quv qo‘llanmalari yoki harbiy maqsadlar uchun yaratilgan aniq funksiyali xaritalar.</a:t>
            </a:r>
            <a:endParaRPr lang="en-US" sz="1350" dirty="0"/>
          </a:p>
        </p:txBody>
      </p:sp>
      <p:sp>
        <p:nvSpPr>
          <p:cNvPr id="14" name="Прямоугольник 13">
            <a:extLst>
              <a:ext uri="{FF2B5EF4-FFF2-40B4-BE49-F238E27FC236}">
                <a16:creationId xmlns:a16="http://schemas.microsoft.com/office/drawing/2014/main" id="{FACBEC42-A400-9E92-5400-B1AE1E946654}"/>
              </a:ext>
            </a:extLst>
          </p:cNvPr>
          <p:cNvSpPr/>
          <p:nvPr/>
        </p:nvSpPr>
        <p:spPr>
          <a:xfrm>
            <a:off x="12753474" y="7716253"/>
            <a:ext cx="1876926" cy="513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6522" y="586502"/>
            <a:ext cx="5399484" cy="627221"/>
          </a:xfrm>
          <a:prstGeom prst="rect">
            <a:avLst/>
          </a:prstGeom>
          <a:noFill/>
          <a:ln/>
        </p:spPr>
        <p:txBody>
          <a:bodyPr wrap="none" lIns="0" tIns="0" rIns="0" bIns="0" rtlCol="0" anchor="t"/>
          <a:lstStyle/>
          <a:p>
            <a:pPr marL="0" indent="0" algn="l">
              <a:lnSpc>
                <a:spcPts val="4900"/>
              </a:lnSpc>
              <a:buNone/>
            </a:pPr>
            <a:r>
              <a:rPr lang="en-US" sz="3950" dirty="0">
                <a:solidFill>
                  <a:srgbClr val="000000"/>
                </a:solidFill>
                <a:latin typeface="Source Serif 4 Semi Bold" pitchFamily="34" charset="0"/>
                <a:ea typeface="Source Serif 4 Semi Bold" pitchFamily="34" charset="-122"/>
                <a:cs typeface="Source Serif 4 Semi Bold" pitchFamily="34" charset="-120"/>
              </a:rPr>
              <a:t>Masshtab tushunchasi</a:t>
            </a:r>
            <a:endParaRPr lang="en-US" sz="3950" dirty="0"/>
          </a:p>
        </p:txBody>
      </p:sp>
      <p:sp>
        <p:nvSpPr>
          <p:cNvPr id="3" name="Text 1"/>
          <p:cNvSpPr/>
          <p:nvPr/>
        </p:nvSpPr>
        <p:spPr>
          <a:xfrm>
            <a:off x="1066443" y="1880116"/>
            <a:ext cx="12817435" cy="341114"/>
          </a:xfrm>
          <a:prstGeom prst="rect">
            <a:avLst/>
          </a:prstGeom>
          <a:noFill/>
          <a:ln/>
        </p:spPr>
        <p:txBody>
          <a:bodyPr wrap="none" lIns="0" tIns="0" rIns="0" bIns="0" rtlCol="0" anchor="t"/>
          <a:lstStyle/>
          <a:p>
            <a:pPr marL="0" indent="0" algn="l">
              <a:lnSpc>
                <a:spcPts val="2650"/>
              </a:lnSpc>
              <a:buNone/>
            </a:pPr>
            <a:r>
              <a:rPr lang="en-US" sz="1650" dirty="0">
                <a:solidFill>
                  <a:srgbClr val="272525"/>
                </a:solidFill>
                <a:latin typeface="Source Sans 3" pitchFamily="34" charset="0"/>
                <a:ea typeface="Source Sans 3" pitchFamily="34" charset="-122"/>
                <a:cs typeface="Source Sans 3" pitchFamily="34" charset="-120"/>
              </a:rPr>
              <a:t>"Xarita masshtabi – xaritadagi masofa va haqiqiy masofa orasidagi mutlaq nisbat."</a:t>
            </a:r>
            <a:endParaRPr lang="en-US" sz="1650" dirty="0"/>
          </a:p>
        </p:txBody>
      </p:sp>
      <p:sp>
        <p:nvSpPr>
          <p:cNvPr id="4" name="Shape 2"/>
          <p:cNvSpPr/>
          <p:nvPr/>
        </p:nvSpPr>
        <p:spPr>
          <a:xfrm>
            <a:off x="746522" y="1640205"/>
            <a:ext cx="22860" cy="820936"/>
          </a:xfrm>
          <a:prstGeom prst="rect">
            <a:avLst/>
          </a:prstGeom>
          <a:solidFill>
            <a:srgbClr val="BE49DF"/>
          </a:solidFill>
          <a:ln/>
        </p:spPr>
      </p:sp>
      <p:sp>
        <p:nvSpPr>
          <p:cNvPr id="5" name="Text 3"/>
          <p:cNvSpPr/>
          <p:nvPr/>
        </p:nvSpPr>
        <p:spPr>
          <a:xfrm>
            <a:off x="746522" y="2701052"/>
            <a:ext cx="13137356" cy="682228"/>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3" pitchFamily="34" charset="0"/>
                <a:ea typeface="Source Sans 3" pitchFamily="34" charset="-122"/>
                <a:cs typeface="Source Sans 3" pitchFamily="34" charset="-120"/>
              </a:rPr>
              <a:t>Masshtab xarita qanday darajada batafsil ma'lumot berishini va qancha hududni qamrab olishini belgilaydi. U sonli, chiziqli va nomli masshtab shaklida ifodalanadi.</a:t>
            </a:r>
            <a:endParaRPr lang="en-US" sz="1650" dirty="0"/>
          </a:p>
        </p:txBody>
      </p:sp>
      <p:sp>
        <p:nvSpPr>
          <p:cNvPr id="6" name="Shape 4"/>
          <p:cNvSpPr/>
          <p:nvPr/>
        </p:nvSpPr>
        <p:spPr>
          <a:xfrm>
            <a:off x="746522" y="3623191"/>
            <a:ext cx="4236958" cy="3100864"/>
          </a:xfrm>
          <a:prstGeom prst="roundRect">
            <a:avLst>
              <a:gd name="adj" fmla="val 2889"/>
            </a:avLst>
          </a:prstGeom>
          <a:solidFill>
            <a:srgbClr val="F0D4F7"/>
          </a:solidFill>
          <a:ln w="7620">
            <a:solidFill>
              <a:srgbClr val="BE49DF"/>
            </a:solidFill>
            <a:prstDash val="solid"/>
          </a:ln>
        </p:spPr>
      </p:sp>
      <p:sp>
        <p:nvSpPr>
          <p:cNvPr id="7" name="Shape 5"/>
          <p:cNvSpPr/>
          <p:nvPr/>
        </p:nvSpPr>
        <p:spPr>
          <a:xfrm>
            <a:off x="967383" y="3844052"/>
            <a:ext cx="639842" cy="639842"/>
          </a:xfrm>
          <a:prstGeom prst="roundRect">
            <a:avLst>
              <a:gd name="adj" fmla="val 14289599"/>
            </a:avLst>
          </a:prstGeom>
          <a:solidFill>
            <a:srgbClr val="BE49DF"/>
          </a:solidFill>
          <a:ln/>
        </p:spPr>
      </p:sp>
      <p:pic>
        <p:nvPicPr>
          <p:cNvPr id="8" name="Image 0" descr="preencoded.png"/>
          <p:cNvPicPr>
            <a:picLocks noChangeAspect="1"/>
          </p:cNvPicPr>
          <p:nvPr/>
        </p:nvPicPr>
        <p:blipFill>
          <a:blip r:embed="rId3"/>
          <a:stretch>
            <a:fillRect/>
          </a:stretch>
        </p:blipFill>
        <p:spPr>
          <a:xfrm>
            <a:off x="1143357" y="3983950"/>
            <a:ext cx="287893" cy="359926"/>
          </a:xfrm>
          <a:prstGeom prst="rect">
            <a:avLst/>
          </a:prstGeom>
        </p:spPr>
      </p:pic>
      <p:sp>
        <p:nvSpPr>
          <p:cNvPr id="9" name="Text 6"/>
          <p:cNvSpPr/>
          <p:nvPr/>
        </p:nvSpPr>
        <p:spPr>
          <a:xfrm>
            <a:off x="967383" y="4697135"/>
            <a:ext cx="2509242" cy="313730"/>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Source Serif 4 Semi Bold" pitchFamily="34" charset="0"/>
                <a:ea typeface="Source Serif 4 Semi Bold" pitchFamily="34" charset="-122"/>
                <a:cs typeface="Source Serif 4 Semi Bold" pitchFamily="34" charset="-120"/>
              </a:rPr>
              <a:t>Sonli masshtab</a:t>
            </a:r>
            <a:endParaRPr lang="en-US" sz="1950" dirty="0"/>
          </a:p>
        </p:txBody>
      </p:sp>
      <p:sp>
        <p:nvSpPr>
          <p:cNvPr id="10" name="Text 7"/>
          <p:cNvSpPr/>
          <p:nvPr/>
        </p:nvSpPr>
        <p:spPr>
          <a:xfrm>
            <a:off x="967383" y="5138738"/>
            <a:ext cx="3795236" cy="1364456"/>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3" pitchFamily="34" charset="0"/>
                <a:ea typeface="Source Sans 3" pitchFamily="34" charset="-122"/>
                <a:cs typeface="Source Sans 3" pitchFamily="34" charset="-120"/>
              </a:rPr>
              <a:t>1:100 000 kabi kasr shaklida ifodalanadi. Bu xaritadagi 1 birlik masofa yer yuzasida 100 000 birlik masofaga tengligini bildiradi.</a:t>
            </a:r>
            <a:endParaRPr lang="en-US" sz="1650" dirty="0"/>
          </a:p>
        </p:txBody>
      </p:sp>
      <p:sp>
        <p:nvSpPr>
          <p:cNvPr id="11" name="Shape 8"/>
          <p:cNvSpPr/>
          <p:nvPr/>
        </p:nvSpPr>
        <p:spPr>
          <a:xfrm>
            <a:off x="5196721" y="3623191"/>
            <a:ext cx="4236958" cy="3100864"/>
          </a:xfrm>
          <a:prstGeom prst="roundRect">
            <a:avLst>
              <a:gd name="adj" fmla="val 2889"/>
            </a:avLst>
          </a:prstGeom>
          <a:solidFill>
            <a:srgbClr val="F0D4F7"/>
          </a:solidFill>
          <a:ln w="7620">
            <a:solidFill>
              <a:srgbClr val="BE49DF"/>
            </a:solidFill>
            <a:prstDash val="solid"/>
          </a:ln>
        </p:spPr>
      </p:sp>
      <p:sp>
        <p:nvSpPr>
          <p:cNvPr id="12" name="Shape 9"/>
          <p:cNvSpPr/>
          <p:nvPr/>
        </p:nvSpPr>
        <p:spPr>
          <a:xfrm>
            <a:off x="5417582" y="3844052"/>
            <a:ext cx="639842" cy="639842"/>
          </a:xfrm>
          <a:prstGeom prst="roundRect">
            <a:avLst>
              <a:gd name="adj" fmla="val 14289599"/>
            </a:avLst>
          </a:prstGeom>
          <a:solidFill>
            <a:srgbClr val="BE49DF"/>
          </a:solidFill>
          <a:ln/>
        </p:spPr>
      </p:sp>
      <p:pic>
        <p:nvPicPr>
          <p:cNvPr id="13" name="Image 1" descr="preencoded.png"/>
          <p:cNvPicPr>
            <a:picLocks noChangeAspect="1"/>
          </p:cNvPicPr>
          <p:nvPr/>
        </p:nvPicPr>
        <p:blipFill>
          <a:blip r:embed="rId4"/>
          <a:stretch>
            <a:fillRect/>
          </a:stretch>
        </p:blipFill>
        <p:spPr>
          <a:xfrm>
            <a:off x="5593556" y="3983950"/>
            <a:ext cx="287893" cy="359926"/>
          </a:xfrm>
          <a:prstGeom prst="rect">
            <a:avLst/>
          </a:prstGeom>
        </p:spPr>
      </p:pic>
      <p:sp>
        <p:nvSpPr>
          <p:cNvPr id="14" name="Text 10"/>
          <p:cNvSpPr/>
          <p:nvPr/>
        </p:nvSpPr>
        <p:spPr>
          <a:xfrm>
            <a:off x="5417582" y="4697135"/>
            <a:ext cx="2509242" cy="313730"/>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Source Serif 4 Semi Bold" pitchFamily="34" charset="0"/>
                <a:ea typeface="Source Serif 4 Semi Bold" pitchFamily="34" charset="-122"/>
                <a:cs typeface="Source Serif 4 Semi Bold" pitchFamily="34" charset="-120"/>
              </a:rPr>
              <a:t>Chiziqli masshtab</a:t>
            </a:r>
            <a:endParaRPr lang="en-US" sz="1950" dirty="0"/>
          </a:p>
        </p:txBody>
      </p:sp>
      <p:sp>
        <p:nvSpPr>
          <p:cNvPr id="15" name="Text 11"/>
          <p:cNvSpPr/>
          <p:nvPr/>
        </p:nvSpPr>
        <p:spPr>
          <a:xfrm>
            <a:off x="5417582" y="5138738"/>
            <a:ext cx="3795236" cy="1364456"/>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3" pitchFamily="34" charset="0"/>
                <a:ea typeface="Source Sans 3" pitchFamily="34" charset="-122"/>
                <a:cs typeface="Source Sans 3" pitchFamily="34" charset="-120"/>
              </a:rPr>
              <a:t>Xaritada chizilgan o‘lchov chizig‘i bo‘lib, unda haqiqiy masofalar ko‘rsatiladi. Bu xarita kichrayganida ham masofalarni aniq o‘lchash imkonini beradi.</a:t>
            </a:r>
            <a:endParaRPr lang="en-US" sz="1650" dirty="0"/>
          </a:p>
        </p:txBody>
      </p:sp>
      <p:sp>
        <p:nvSpPr>
          <p:cNvPr id="16" name="Shape 12"/>
          <p:cNvSpPr/>
          <p:nvPr/>
        </p:nvSpPr>
        <p:spPr>
          <a:xfrm>
            <a:off x="9646920" y="3623191"/>
            <a:ext cx="4236958" cy="3100864"/>
          </a:xfrm>
          <a:prstGeom prst="roundRect">
            <a:avLst>
              <a:gd name="adj" fmla="val 2889"/>
            </a:avLst>
          </a:prstGeom>
          <a:solidFill>
            <a:srgbClr val="F0D4F7"/>
          </a:solidFill>
          <a:ln w="7620">
            <a:solidFill>
              <a:srgbClr val="BE49DF"/>
            </a:solidFill>
            <a:prstDash val="solid"/>
          </a:ln>
        </p:spPr>
      </p:sp>
      <p:sp>
        <p:nvSpPr>
          <p:cNvPr id="17" name="Shape 13"/>
          <p:cNvSpPr/>
          <p:nvPr/>
        </p:nvSpPr>
        <p:spPr>
          <a:xfrm>
            <a:off x="9867781" y="3844052"/>
            <a:ext cx="639842" cy="639842"/>
          </a:xfrm>
          <a:prstGeom prst="roundRect">
            <a:avLst>
              <a:gd name="adj" fmla="val 14289599"/>
            </a:avLst>
          </a:prstGeom>
          <a:solidFill>
            <a:srgbClr val="BE49DF"/>
          </a:solidFill>
          <a:ln/>
        </p:spPr>
      </p:sp>
      <p:pic>
        <p:nvPicPr>
          <p:cNvPr id="18" name="Image 2" descr="preencoded.png"/>
          <p:cNvPicPr>
            <a:picLocks noChangeAspect="1"/>
          </p:cNvPicPr>
          <p:nvPr/>
        </p:nvPicPr>
        <p:blipFill>
          <a:blip r:embed="rId5"/>
          <a:stretch>
            <a:fillRect/>
          </a:stretch>
        </p:blipFill>
        <p:spPr>
          <a:xfrm>
            <a:off x="10043755" y="3983950"/>
            <a:ext cx="287893" cy="359926"/>
          </a:xfrm>
          <a:prstGeom prst="rect">
            <a:avLst/>
          </a:prstGeom>
        </p:spPr>
      </p:pic>
      <p:sp>
        <p:nvSpPr>
          <p:cNvPr id="19" name="Text 14"/>
          <p:cNvSpPr/>
          <p:nvPr/>
        </p:nvSpPr>
        <p:spPr>
          <a:xfrm>
            <a:off x="9867781" y="4697135"/>
            <a:ext cx="2509242" cy="313730"/>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Source Serif 4 Semi Bold" pitchFamily="34" charset="0"/>
                <a:ea typeface="Source Serif 4 Semi Bold" pitchFamily="34" charset="-122"/>
                <a:cs typeface="Source Serif 4 Semi Bold" pitchFamily="34" charset="-120"/>
              </a:rPr>
              <a:t>Nomli masshtab</a:t>
            </a:r>
            <a:endParaRPr lang="en-US" sz="1950" dirty="0"/>
          </a:p>
        </p:txBody>
      </p:sp>
      <p:sp>
        <p:nvSpPr>
          <p:cNvPr id="20" name="Text 15"/>
          <p:cNvSpPr/>
          <p:nvPr/>
        </p:nvSpPr>
        <p:spPr>
          <a:xfrm>
            <a:off x="9867781" y="5138738"/>
            <a:ext cx="3795236" cy="1023342"/>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3" pitchFamily="34" charset="0"/>
                <a:ea typeface="Source Sans 3" pitchFamily="34" charset="-122"/>
                <a:cs typeface="Source Sans 3" pitchFamily="34" charset="-120"/>
              </a:rPr>
              <a:t>"1 sm da 1 km" kabi so‘zlar bilan ifodalanadi. Bu eng sodda va tushunarli usuldir.</a:t>
            </a:r>
            <a:endParaRPr lang="en-US" sz="1650" dirty="0"/>
          </a:p>
        </p:txBody>
      </p:sp>
      <p:sp>
        <p:nvSpPr>
          <p:cNvPr id="21" name="Text 16"/>
          <p:cNvSpPr/>
          <p:nvPr/>
        </p:nvSpPr>
        <p:spPr>
          <a:xfrm>
            <a:off x="746522" y="6963966"/>
            <a:ext cx="13137356" cy="682228"/>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3" pitchFamily="34" charset="0"/>
                <a:ea typeface="Source Sans 3" pitchFamily="34" charset="-122"/>
                <a:cs typeface="Source Sans 3" pitchFamily="34" charset="-120"/>
              </a:rPr>
              <a:t>Masalan, 1:100 000 masshtabda xaritadagi 1 sm uzunlikdagi kesma yer yuzasida 1 km haqiqiy masofaga to'g'ri keladi. Masshtab qanchalik kichik bo'lsa, xarita shunchalik katta hududni qamrab oladi, lekin tafsilotlar kamroq bo'ladi.</a:t>
            </a:r>
            <a:endParaRPr lang="en-US" sz="1650" dirty="0"/>
          </a:p>
        </p:txBody>
      </p:sp>
      <p:sp>
        <p:nvSpPr>
          <p:cNvPr id="22" name="Прямоугольник 21">
            <a:extLst>
              <a:ext uri="{FF2B5EF4-FFF2-40B4-BE49-F238E27FC236}">
                <a16:creationId xmlns:a16="http://schemas.microsoft.com/office/drawing/2014/main" id="{DA42D777-278D-37A8-ABB3-2F980F8CA9A0}"/>
              </a:ext>
            </a:extLst>
          </p:cNvPr>
          <p:cNvSpPr/>
          <p:nvPr/>
        </p:nvSpPr>
        <p:spPr>
          <a:xfrm>
            <a:off x="12753474" y="7716253"/>
            <a:ext cx="1876926" cy="513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2120" y="938570"/>
            <a:ext cx="10230922" cy="648891"/>
          </a:xfrm>
          <a:prstGeom prst="rect">
            <a:avLst/>
          </a:prstGeom>
          <a:noFill/>
          <a:ln/>
        </p:spPr>
        <p:txBody>
          <a:bodyPr wrap="none" lIns="0" tIns="0" rIns="0" bIns="0" rtlCol="0" anchor="t"/>
          <a:lstStyle/>
          <a:p>
            <a:pPr marL="0" indent="0" algn="l">
              <a:lnSpc>
                <a:spcPts val="5100"/>
              </a:lnSpc>
              <a:buNone/>
            </a:pPr>
            <a:r>
              <a:rPr lang="en-US" sz="4050" dirty="0">
                <a:solidFill>
                  <a:srgbClr val="000000"/>
                </a:solidFill>
                <a:latin typeface="Source Serif 4 Semi Bold" pitchFamily="34" charset="0"/>
                <a:ea typeface="Source Serif 4 Semi Bold" pitchFamily="34" charset="-122"/>
                <a:cs typeface="Source Serif 4 Semi Bold" pitchFamily="34" charset="-120"/>
              </a:rPr>
              <a:t>Masshtab turlari va ularning qo‘llanilishi</a:t>
            </a:r>
            <a:endParaRPr lang="en-US" sz="4050" dirty="0"/>
          </a:p>
        </p:txBody>
      </p:sp>
      <p:sp>
        <p:nvSpPr>
          <p:cNvPr id="3" name="Text 1"/>
          <p:cNvSpPr/>
          <p:nvPr/>
        </p:nvSpPr>
        <p:spPr>
          <a:xfrm>
            <a:off x="772120" y="2028587"/>
            <a:ext cx="13086159" cy="352901"/>
          </a:xfrm>
          <a:prstGeom prst="rect">
            <a:avLst/>
          </a:prstGeom>
          <a:noFill/>
          <a:ln/>
        </p:spPr>
        <p:txBody>
          <a:bodyPr wrap="none" lIns="0" tIns="0" rIns="0" bIns="0" rtlCol="0" anchor="t"/>
          <a:lstStyle/>
          <a:p>
            <a:pPr marL="0" indent="0" algn="l">
              <a:lnSpc>
                <a:spcPts val="2750"/>
              </a:lnSpc>
              <a:buNone/>
            </a:pPr>
            <a:r>
              <a:rPr lang="en-US" sz="1700" dirty="0">
                <a:solidFill>
                  <a:srgbClr val="272525"/>
                </a:solidFill>
                <a:latin typeface="Source Sans 3" pitchFamily="34" charset="0"/>
                <a:ea typeface="Source Sans 3" pitchFamily="34" charset="-122"/>
                <a:cs typeface="Source Sans 3" pitchFamily="34" charset="-120"/>
              </a:rPr>
              <a:t>Xaritagrafiyada masshtablar turli maqsadlar uchun qo‘llaniladi va ularning kattaligiga qarab tasvirning batafsillik darajasi belgilanadi.</a:t>
            </a:r>
            <a:endParaRPr lang="en-US" sz="1700" dirty="0"/>
          </a:p>
        </p:txBody>
      </p:sp>
      <p:sp>
        <p:nvSpPr>
          <p:cNvPr id="4" name="Shape 2"/>
          <p:cNvSpPr/>
          <p:nvPr/>
        </p:nvSpPr>
        <p:spPr>
          <a:xfrm>
            <a:off x="772120" y="2960489"/>
            <a:ext cx="4215051" cy="3376613"/>
          </a:xfrm>
          <a:prstGeom prst="roundRect">
            <a:avLst>
              <a:gd name="adj" fmla="val 4333"/>
            </a:avLst>
          </a:prstGeom>
          <a:solidFill>
            <a:srgbClr val="FFFFFF">
              <a:alpha val="95000"/>
            </a:srgbClr>
          </a:solidFill>
          <a:ln/>
        </p:spPr>
      </p:sp>
      <p:sp>
        <p:nvSpPr>
          <p:cNvPr id="5" name="Shape 3"/>
          <p:cNvSpPr/>
          <p:nvPr/>
        </p:nvSpPr>
        <p:spPr>
          <a:xfrm>
            <a:off x="772120" y="2930009"/>
            <a:ext cx="4215051" cy="121920"/>
          </a:xfrm>
          <a:prstGeom prst="roundRect">
            <a:avLst>
              <a:gd name="adj" fmla="val 75996"/>
            </a:avLst>
          </a:prstGeom>
          <a:solidFill>
            <a:srgbClr val="BE49DF"/>
          </a:solidFill>
          <a:ln/>
        </p:spPr>
      </p:sp>
      <p:sp>
        <p:nvSpPr>
          <p:cNvPr id="6" name="Shape 4"/>
          <p:cNvSpPr/>
          <p:nvPr/>
        </p:nvSpPr>
        <p:spPr>
          <a:xfrm>
            <a:off x="2548771" y="2629614"/>
            <a:ext cx="661749" cy="661749"/>
          </a:xfrm>
          <a:prstGeom prst="roundRect">
            <a:avLst>
              <a:gd name="adj" fmla="val 138179"/>
            </a:avLst>
          </a:prstGeom>
          <a:solidFill>
            <a:srgbClr val="BE49DF"/>
          </a:solidFill>
          <a:ln/>
        </p:spPr>
      </p:sp>
      <p:sp>
        <p:nvSpPr>
          <p:cNvPr id="7" name="Text 5"/>
          <p:cNvSpPr/>
          <p:nvPr/>
        </p:nvSpPr>
        <p:spPr>
          <a:xfrm>
            <a:off x="2747248" y="2794992"/>
            <a:ext cx="264676" cy="330875"/>
          </a:xfrm>
          <a:prstGeom prst="rect">
            <a:avLst/>
          </a:prstGeom>
          <a:noFill/>
          <a:ln/>
        </p:spPr>
        <p:txBody>
          <a:bodyPr wrap="none" lIns="0" tIns="0" rIns="0" bIns="0" rtlCol="0" anchor="t"/>
          <a:lstStyle/>
          <a:p>
            <a:pPr marL="0" indent="0" algn="l">
              <a:lnSpc>
                <a:spcPts val="3300"/>
              </a:lnSpc>
              <a:buNone/>
            </a:pPr>
            <a:r>
              <a:rPr lang="en-US" sz="2050" dirty="0">
                <a:solidFill>
                  <a:srgbClr val="FFFFFF"/>
                </a:solidFill>
                <a:latin typeface="Source Serif 4 Semi Bold" pitchFamily="34" charset="0"/>
                <a:ea typeface="Source Serif 4 Semi Bold" pitchFamily="34" charset="-122"/>
                <a:cs typeface="Source Serif 4 Semi Bold" pitchFamily="34" charset="-120"/>
              </a:rPr>
              <a:t>1</a:t>
            </a:r>
            <a:endParaRPr lang="en-US" sz="2050" dirty="0"/>
          </a:p>
        </p:txBody>
      </p:sp>
      <p:sp>
        <p:nvSpPr>
          <p:cNvPr id="8" name="Text 6"/>
          <p:cNvSpPr/>
          <p:nvPr/>
        </p:nvSpPr>
        <p:spPr>
          <a:xfrm>
            <a:off x="1023104" y="3511987"/>
            <a:ext cx="3212187" cy="324445"/>
          </a:xfrm>
          <a:prstGeom prst="rect">
            <a:avLst/>
          </a:prstGeom>
          <a:noFill/>
          <a:ln/>
        </p:spPr>
        <p:txBody>
          <a:bodyPr wrap="none" lIns="0" tIns="0" rIns="0" bIns="0" rtlCol="0" anchor="t"/>
          <a:lstStyle/>
          <a:p>
            <a:pPr marL="0" indent="0" algn="l">
              <a:lnSpc>
                <a:spcPts val="2550"/>
              </a:lnSpc>
              <a:buNone/>
            </a:pPr>
            <a:r>
              <a:rPr lang="en-US" sz="2000" dirty="0">
                <a:solidFill>
                  <a:srgbClr val="272525"/>
                </a:solidFill>
                <a:latin typeface="Source Serif 4 Semi Bold" pitchFamily="34" charset="0"/>
                <a:ea typeface="Source Serif 4 Semi Bold" pitchFamily="34" charset="-122"/>
                <a:cs typeface="Source Serif 4 Semi Bold" pitchFamily="34" charset="-120"/>
              </a:rPr>
              <a:t>Yirik masshtabli xaritalar</a:t>
            </a:r>
            <a:endParaRPr lang="en-US" sz="2000" dirty="0"/>
          </a:p>
        </p:txBody>
      </p:sp>
      <p:sp>
        <p:nvSpPr>
          <p:cNvPr id="9" name="Text 7"/>
          <p:cNvSpPr/>
          <p:nvPr/>
        </p:nvSpPr>
        <p:spPr>
          <a:xfrm>
            <a:off x="1023104" y="3968710"/>
            <a:ext cx="3713083" cy="2117408"/>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3" pitchFamily="34" charset="0"/>
                <a:ea typeface="Source Sans 3" pitchFamily="34" charset="-122"/>
                <a:cs typeface="Source Sans 3" pitchFamily="34" charset="-120"/>
              </a:rPr>
              <a:t>1:10 000 va undan kichik masshtabdagi xaritalar (masalan, 1:5 000). Ular kichik hududlarni (shaharlar, qishloqlar, sayyohlik maskanlari) juda katta tafsilotlar bilan ko‘rsatish uchun ishlatiladi.</a:t>
            </a:r>
            <a:endParaRPr lang="en-US" sz="1700" dirty="0"/>
          </a:p>
        </p:txBody>
      </p:sp>
      <p:sp>
        <p:nvSpPr>
          <p:cNvPr id="10" name="Shape 8"/>
          <p:cNvSpPr/>
          <p:nvPr/>
        </p:nvSpPr>
        <p:spPr>
          <a:xfrm>
            <a:off x="5207675" y="2960489"/>
            <a:ext cx="4215051" cy="3376613"/>
          </a:xfrm>
          <a:prstGeom prst="roundRect">
            <a:avLst>
              <a:gd name="adj" fmla="val 4333"/>
            </a:avLst>
          </a:prstGeom>
          <a:solidFill>
            <a:srgbClr val="FFFFFF">
              <a:alpha val="95000"/>
            </a:srgbClr>
          </a:solidFill>
          <a:ln/>
        </p:spPr>
      </p:sp>
      <p:sp>
        <p:nvSpPr>
          <p:cNvPr id="11" name="Shape 9"/>
          <p:cNvSpPr/>
          <p:nvPr/>
        </p:nvSpPr>
        <p:spPr>
          <a:xfrm>
            <a:off x="5207675" y="2930009"/>
            <a:ext cx="4215051" cy="121920"/>
          </a:xfrm>
          <a:prstGeom prst="roundRect">
            <a:avLst>
              <a:gd name="adj" fmla="val 75996"/>
            </a:avLst>
          </a:prstGeom>
          <a:solidFill>
            <a:srgbClr val="BE49DF"/>
          </a:solidFill>
          <a:ln/>
        </p:spPr>
      </p:sp>
      <p:sp>
        <p:nvSpPr>
          <p:cNvPr id="12" name="Shape 10"/>
          <p:cNvSpPr/>
          <p:nvPr/>
        </p:nvSpPr>
        <p:spPr>
          <a:xfrm>
            <a:off x="6984325" y="2629614"/>
            <a:ext cx="661749" cy="661749"/>
          </a:xfrm>
          <a:prstGeom prst="roundRect">
            <a:avLst>
              <a:gd name="adj" fmla="val 138179"/>
            </a:avLst>
          </a:prstGeom>
          <a:solidFill>
            <a:srgbClr val="BE49DF"/>
          </a:solidFill>
          <a:ln/>
        </p:spPr>
      </p:sp>
      <p:sp>
        <p:nvSpPr>
          <p:cNvPr id="13" name="Text 11"/>
          <p:cNvSpPr/>
          <p:nvPr/>
        </p:nvSpPr>
        <p:spPr>
          <a:xfrm>
            <a:off x="7182803" y="2794992"/>
            <a:ext cx="264676" cy="330875"/>
          </a:xfrm>
          <a:prstGeom prst="rect">
            <a:avLst/>
          </a:prstGeom>
          <a:noFill/>
          <a:ln/>
        </p:spPr>
        <p:txBody>
          <a:bodyPr wrap="none" lIns="0" tIns="0" rIns="0" bIns="0" rtlCol="0" anchor="t"/>
          <a:lstStyle/>
          <a:p>
            <a:pPr marL="0" indent="0" algn="l">
              <a:lnSpc>
                <a:spcPts val="3300"/>
              </a:lnSpc>
              <a:buNone/>
            </a:pPr>
            <a:r>
              <a:rPr lang="en-US" sz="2050" dirty="0">
                <a:solidFill>
                  <a:srgbClr val="FFFFFF"/>
                </a:solidFill>
                <a:latin typeface="Source Serif 4 Semi Bold" pitchFamily="34" charset="0"/>
                <a:ea typeface="Source Serif 4 Semi Bold" pitchFamily="34" charset="-122"/>
                <a:cs typeface="Source Serif 4 Semi Bold" pitchFamily="34" charset="-120"/>
              </a:rPr>
              <a:t>2</a:t>
            </a:r>
            <a:endParaRPr lang="en-US" sz="2050" dirty="0"/>
          </a:p>
        </p:txBody>
      </p:sp>
      <p:sp>
        <p:nvSpPr>
          <p:cNvPr id="14" name="Text 12"/>
          <p:cNvSpPr/>
          <p:nvPr/>
        </p:nvSpPr>
        <p:spPr>
          <a:xfrm>
            <a:off x="5458658" y="3511987"/>
            <a:ext cx="3208496" cy="324445"/>
          </a:xfrm>
          <a:prstGeom prst="rect">
            <a:avLst/>
          </a:prstGeom>
          <a:noFill/>
          <a:ln/>
        </p:spPr>
        <p:txBody>
          <a:bodyPr wrap="none" lIns="0" tIns="0" rIns="0" bIns="0" rtlCol="0" anchor="t"/>
          <a:lstStyle/>
          <a:p>
            <a:pPr marL="0" indent="0" algn="l">
              <a:lnSpc>
                <a:spcPts val="2550"/>
              </a:lnSpc>
              <a:buNone/>
            </a:pPr>
            <a:r>
              <a:rPr lang="en-US" sz="2000" dirty="0">
                <a:solidFill>
                  <a:srgbClr val="272525"/>
                </a:solidFill>
                <a:latin typeface="Source Serif 4 Semi Bold" pitchFamily="34" charset="0"/>
                <a:ea typeface="Source Serif 4 Semi Bold" pitchFamily="34" charset="-122"/>
                <a:cs typeface="Source Serif 4 Semi Bold" pitchFamily="34" charset="-120"/>
              </a:rPr>
              <a:t>O‘rta masshtabli xaritalar</a:t>
            </a:r>
            <a:endParaRPr lang="en-US" sz="2000" dirty="0"/>
          </a:p>
        </p:txBody>
      </p:sp>
      <p:sp>
        <p:nvSpPr>
          <p:cNvPr id="15" name="Text 13"/>
          <p:cNvSpPr/>
          <p:nvPr/>
        </p:nvSpPr>
        <p:spPr>
          <a:xfrm>
            <a:off x="5458658" y="3968710"/>
            <a:ext cx="3713083" cy="1764506"/>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3" pitchFamily="34" charset="0"/>
                <a:ea typeface="Source Sans 3" pitchFamily="34" charset="-122"/>
                <a:cs typeface="Source Sans 3" pitchFamily="34" charset="-120"/>
              </a:rPr>
              <a:t>1:25 000 dan 1:250 000 gacha bo‘lgan masshtabdagi xaritalar. Hududiy rejalashtirish, katta shaharlar atrofini o‘rganish va o‘rta masofali navigatsiya uchun qulay.</a:t>
            </a:r>
            <a:endParaRPr lang="en-US" sz="1700" dirty="0"/>
          </a:p>
        </p:txBody>
      </p:sp>
      <p:sp>
        <p:nvSpPr>
          <p:cNvPr id="16" name="Shape 14"/>
          <p:cNvSpPr/>
          <p:nvPr/>
        </p:nvSpPr>
        <p:spPr>
          <a:xfrm>
            <a:off x="9643229" y="2960489"/>
            <a:ext cx="4215051" cy="3376613"/>
          </a:xfrm>
          <a:prstGeom prst="roundRect">
            <a:avLst>
              <a:gd name="adj" fmla="val 4333"/>
            </a:avLst>
          </a:prstGeom>
          <a:solidFill>
            <a:srgbClr val="FFFFFF">
              <a:alpha val="95000"/>
            </a:srgbClr>
          </a:solidFill>
          <a:ln/>
        </p:spPr>
      </p:sp>
      <p:sp>
        <p:nvSpPr>
          <p:cNvPr id="17" name="Shape 15"/>
          <p:cNvSpPr/>
          <p:nvPr/>
        </p:nvSpPr>
        <p:spPr>
          <a:xfrm>
            <a:off x="9643229" y="2930009"/>
            <a:ext cx="4215051" cy="121920"/>
          </a:xfrm>
          <a:prstGeom prst="roundRect">
            <a:avLst>
              <a:gd name="adj" fmla="val 75996"/>
            </a:avLst>
          </a:prstGeom>
          <a:solidFill>
            <a:srgbClr val="BE49DF"/>
          </a:solidFill>
          <a:ln/>
        </p:spPr>
      </p:sp>
      <p:sp>
        <p:nvSpPr>
          <p:cNvPr id="18" name="Shape 16"/>
          <p:cNvSpPr/>
          <p:nvPr/>
        </p:nvSpPr>
        <p:spPr>
          <a:xfrm>
            <a:off x="11419880" y="2629614"/>
            <a:ext cx="661749" cy="661749"/>
          </a:xfrm>
          <a:prstGeom prst="roundRect">
            <a:avLst>
              <a:gd name="adj" fmla="val 138179"/>
            </a:avLst>
          </a:prstGeom>
          <a:solidFill>
            <a:srgbClr val="BE49DF"/>
          </a:solidFill>
          <a:ln/>
        </p:spPr>
      </p:sp>
      <p:sp>
        <p:nvSpPr>
          <p:cNvPr id="19" name="Text 17"/>
          <p:cNvSpPr/>
          <p:nvPr/>
        </p:nvSpPr>
        <p:spPr>
          <a:xfrm>
            <a:off x="11618357" y="2794992"/>
            <a:ext cx="264676" cy="330875"/>
          </a:xfrm>
          <a:prstGeom prst="rect">
            <a:avLst/>
          </a:prstGeom>
          <a:noFill/>
          <a:ln/>
        </p:spPr>
        <p:txBody>
          <a:bodyPr wrap="none" lIns="0" tIns="0" rIns="0" bIns="0" rtlCol="0" anchor="t"/>
          <a:lstStyle/>
          <a:p>
            <a:pPr marL="0" indent="0" algn="l">
              <a:lnSpc>
                <a:spcPts val="3300"/>
              </a:lnSpc>
              <a:buNone/>
            </a:pPr>
            <a:r>
              <a:rPr lang="en-US" sz="2050" dirty="0">
                <a:solidFill>
                  <a:srgbClr val="FFFFFF"/>
                </a:solidFill>
                <a:latin typeface="Source Serif 4 Semi Bold" pitchFamily="34" charset="0"/>
                <a:ea typeface="Source Serif 4 Semi Bold" pitchFamily="34" charset="-122"/>
                <a:cs typeface="Source Serif 4 Semi Bold" pitchFamily="34" charset="-120"/>
              </a:rPr>
              <a:t>3</a:t>
            </a:r>
            <a:endParaRPr lang="en-US" sz="2050" dirty="0"/>
          </a:p>
        </p:txBody>
      </p:sp>
      <p:sp>
        <p:nvSpPr>
          <p:cNvPr id="20" name="Text 18"/>
          <p:cNvSpPr/>
          <p:nvPr/>
        </p:nvSpPr>
        <p:spPr>
          <a:xfrm>
            <a:off x="9894213" y="3511987"/>
            <a:ext cx="3416856" cy="324445"/>
          </a:xfrm>
          <a:prstGeom prst="rect">
            <a:avLst/>
          </a:prstGeom>
          <a:noFill/>
          <a:ln/>
        </p:spPr>
        <p:txBody>
          <a:bodyPr wrap="none" lIns="0" tIns="0" rIns="0" bIns="0" rtlCol="0" anchor="t"/>
          <a:lstStyle/>
          <a:p>
            <a:pPr marL="0" indent="0" algn="l">
              <a:lnSpc>
                <a:spcPts val="2550"/>
              </a:lnSpc>
              <a:buNone/>
            </a:pPr>
            <a:r>
              <a:rPr lang="en-US" sz="2000" dirty="0">
                <a:solidFill>
                  <a:srgbClr val="272525"/>
                </a:solidFill>
                <a:latin typeface="Source Serif 4 Semi Bold" pitchFamily="34" charset="0"/>
                <a:ea typeface="Source Serif 4 Semi Bold" pitchFamily="34" charset="-122"/>
                <a:cs typeface="Source Serif 4 Semi Bold" pitchFamily="34" charset="-120"/>
              </a:rPr>
              <a:t>Mayda masshtabli xaritalar</a:t>
            </a:r>
            <a:endParaRPr lang="en-US" sz="2000" dirty="0"/>
          </a:p>
        </p:txBody>
      </p:sp>
      <p:sp>
        <p:nvSpPr>
          <p:cNvPr id="21" name="Text 19"/>
          <p:cNvSpPr/>
          <p:nvPr/>
        </p:nvSpPr>
        <p:spPr>
          <a:xfrm>
            <a:off x="9894213" y="3968710"/>
            <a:ext cx="3713083" cy="2117408"/>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3" pitchFamily="34" charset="0"/>
                <a:ea typeface="Source Sans 3" pitchFamily="34" charset="-122"/>
                <a:cs typeface="Source Sans 3" pitchFamily="34" charset="-120"/>
              </a:rPr>
              <a:t>1:500 000 va undan kichik masshtabdagi xaritalar (masalan, 1:1 000 000). Katta hududlar, mamlakatlar, qit'alar yoki butun dunyo xaritalari uchun qo‘llaniladi. Umumiy tasavvur beradi, lekin tafsilotlar juda kam bo‘ladi.</a:t>
            </a:r>
            <a:endParaRPr lang="en-US" sz="1700" dirty="0"/>
          </a:p>
        </p:txBody>
      </p:sp>
      <p:sp>
        <p:nvSpPr>
          <p:cNvPr id="22" name="Text 20"/>
          <p:cNvSpPr/>
          <p:nvPr/>
        </p:nvSpPr>
        <p:spPr>
          <a:xfrm>
            <a:off x="772120" y="6585228"/>
            <a:ext cx="13086159" cy="705803"/>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3" pitchFamily="34" charset="0"/>
                <a:ea typeface="Source Sans 3" pitchFamily="34" charset="-122"/>
                <a:cs typeface="Source Sans 3" pitchFamily="34" charset="-120"/>
              </a:rPr>
              <a:t>Masshtabni to'g'ri tanlash xaritadan foydalanish samaradorligini oshiradi. Misol uchun, shahar bo'ylab harakatlanish uchun yirik masshtabli xarita, davlatlararo sayohat uchun esa mayda masshtabli xarita afzaldir.</a:t>
            </a:r>
            <a:endParaRPr lang="en-US" sz="1700" dirty="0"/>
          </a:p>
        </p:txBody>
      </p:sp>
      <p:sp>
        <p:nvSpPr>
          <p:cNvPr id="23" name="Прямоугольник 22">
            <a:extLst>
              <a:ext uri="{FF2B5EF4-FFF2-40B4-BE49-F238E27FC236}">
                <a16:creationId xmlns:a16="http://schemas.microsoft.com/office/drawing/2014/main" id="{A6345105-747E-DC2D-6953-CB3B5C3B28D2}"/>
              </a:ext>
            </a:extLst>
          </p:cNvPr>
          <p:cNvSpPr/>
          <p:nvPr/>
        </p:nvSpPr>
        <p:spPr>
          <a:xfrm>
            <a:off x="12753474" y="7716253"/>
            <a:ext cx="1876926" cy="513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79383" y="630674"/>
            <a:ext cx="13071634" cy="1309926"/>
          </a:xfrm>
          <a:prstGeom prst="rect">
            <a:avLst/>
          </a:prstGeom>
          <a:noFill/>
          <a:ln/>
        </p:spPr>
        <p:txBody>
          <a:bodyPr wrap="square" lIns="0" tIns="0" rIns="0" bIns="0" rtlCol="0" anchor="t"/>
          <a:lstStyle/>
          <a:p>
            <a:pPr marL="0" indent="0" algn="l">
              <a:lnSpc>
                <a:spcPts val="5150"/>
              </a:lnSpc>
              <a:buNone/>
            </a:pPr>
            <a:r>
              <a:rPr lang="en-US" sz="4100" dirty="0">
                <a:solidFill>
                  <a:srgbClr val="000000"/>
                </a:solidFill>
                <a:latin typeface="Source Serif 4 Semi Bold" pitchFamily="34" charset="0"/>
                <a:ea typeface="Source Serif 4 Semi Bold" pitchFamily="34" charset="-122"/>
                <a:cs typeface="Source Serif 4 Semi Bold" pitchFamily="34" charset="-120"/>
              </a:rPr>
              <a:t>Tasviriy va xaritografik maʼlumotlarni kiritish va bog‘lash</a:t>
            </a:r>
            <a:endParaRPr lang="en-US" sz="4100" dirty="0"/>
          </a:p>
        </p:txBody>
      </p:sp>
      <p:sp>
        <p:nvSpPr>
          <p:cNvPr id="3" name="Text 1"/>
          <p:cNvSpPr/>
          <p:nvPr/>
        </p:nvSpPr>
        <p:spPr>
          <a:xfrm>
            <a:off x="779383" y="2386013"/>
            <a:ext cx="13071634" cy="712708"/>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Source Sans 3" pitchFamily="34" charset="0"/>
                <a:ea typeface="Source Sans 3" pitchFamily="34" charset="-122"/>
                <a:cs typeface="Source Sans 3" pitchFamily="34" charset="-120"/>
              </a:rPr>
              <a:t>Zamonaviy xaritagrafiya tasviriy va xaritografik ma'lumotlarni birlashtirish orqali yanada aniq va dolzarb xaritalarni yaratish imkonini beradi. Bu jarayon Geografik Axborot Tizimlari (GAT) texnologiyalari yordamida amalga oshiriladi.</a:t>
            </a:r>
            <a:endParaRPr lang="en-US" sz="1750" dirty="0"/>
          </a:p>
        </p:txBody>
      </p:sp>
      <p:sp>
        <p:nvSpPr>
          <p:cNvPr id="4" name="Text 2"/>
          <p:cNvSpPr/>
          <p:nvPr/>
        </p:nvSpPr>
        <p:spPr>
          <a:xfrm>
            <a:off x="779383" y="3349228"/>
            <a:ext cx="222647" cy="278368"/>
          </a:xfrm>
          <a:prstGeom prst="rect">
            <a:avLst/>
          </a:prstGeom>
          <a:noFill/>
          <a:ln/>
        </p:spPr>
        <p:txBody>
          <a:bodyPr wrap="none" lIns="0" tIns="0" rIns="0" bIns="0" rtlCol="0" anchor="t"/>
          <a:lstStyle/>
          <a:p>
            <a:pPr marL="0" indent="0" algn="l">
              <a:lnSpc>
                <a:spcPts val="2800"/>
              </a:lnSpc>
              <a:buNone/>
            </a:pPr>
            <a:r>
              <a:rPr lang="en-US" sz="1750" dirty="0">
                <a:solidFill>
                  <a:srgbClr val="272525"/>
                </a:solidFill>
                <a:latin typeface="Source Serif 4 Light" pitchFamily="34" charset="0"/>
                <a:ea typeface="Source Serif 4 Light" pitchFamily="34" charset="-122"/>
                <a:cs typeface="Source Serif 4 Light" pitchFamily="34" charset="-120"/>
              </a:rPr>
              <a:t>01</a:t>
            </a:r>
            <a:endParaRPr lang="en-US" sz="1750" dirty="0"/>
          </a:p>
        </p:txBody>
      </p:sp>
      <p:sp>
        <p:nvSpPr>
          <p:cNvPr id="5" name="Shape 3"/>
          <p:cNvSpPr/>
          <p:nvPr/>
        </p:nvSpPr>
        <p:spPr>
          <a:xfrm>
            <a:off x="779383" y="3697248"/>
            <a:ext cx="4208740" cy="30480"/>
          </a:xfrm>
          <a:prstGeom prst="rect">
            <a:avLst/>
          </a:prstGeom>
          <a:solidFill>
            <a:srgbClr val="BE49DF"/>
          </a:solidFill>
          <a:ln/>
        </p:spPr>
      </p:sp>
      <p:sp>
        <p:nvSpPr>
          <p:cNvPr id="6" name="Text 4"/>
          <p:cNvSpPr/>
          <p:nvPr/>
        </p:nvSpPr>
        <p:spPr>
          <a:xfrm>
            <a:off x="779383" y="3869531"/>
            <a:ext cx="3457099" cy="327541"/>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4 Semi Bold" pitchFamily="34" charset="0"/>
                <a:ea typeface="Source Serif 4 Semi Bold" pitchFamily="34" charset="-122"/>
                <a:cs typeface="Source Serif 4 Semi Bold" pitchFamily="34" charset="-120"/>
              </a:rPr>
              <a:t>GPS ma'lumotlarini kiritish</a:t>
            </a:r>
            <a:endParaRPr lang="en-US" sz="2050" dirty="0"/>
          </a:p>
        </p:txBody>
      </p:sp>
      <p:sp>
        <p:nvSpPr>
          <p:cNvPr id="7" name="Text 5"/>
          <p:cNvSpPr/>
          <p:nvPr/>
        </p:nvSpPr>
        <p:spPr>
          <a:xfrm>
            <a:off x="779383" y="4330660"/>
            <a:ext cx="4208740" cy="1425416"/>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Source Sans 3" pitchFamily="34" charset="0"/>
                <a:ea typeface="Source Sans 3" pitchFamily="34" charset="-122"/>
                <a:cs typeface="Source Sans 3" pitchFamily="34" charset="-120"/>
              </a:rPr>
              <a:t>GPS qurilmalaridan olingan aniq koordinatalar bevosita raqamli xaritalarga joylashtiriladi va obyektlarning aniq joylashuvini belgilaydi.</a:t>
            </a:r>
            <a:endParaRPr lang="en-US" sz="1750" dirty="0"/>
          </a:p>
        </p:txBody>
      </p:sp>
      <p:sp>
        <p:nvSpPr>
          <p:cNvPr id="8" name="Text 6"/>
          <p:cNvSpPr/>
          <p:nvPr/>
        </p:nvSpPr>
        <p:spPr>
          <a:xfrm>
            <a:off x="5210770" y="3349228"/>
            <a:ext cx="222647" cy="278368"/>
          </a:xfrm>
          <a:prstGeom prst="rect">
            <a:avLst/>
          </a:prstGeom>
          <a:noFill/>
          <a:ln/>
        </p:spPr>
        <p:txBody>
          <a:bodyPr wrap="none" lIns="0" tIns="0" rIns="0" bIns="0" rtlCol="0" anchor="t"/>
          <a:lstStyle/>
          <a:p>
            <a:pPr marL="0" indent="0" algn="l">
              <a:lnSpc>
                <a:spcPts val="2800"/>
              </a:lnSpc>
              <a:buNone/>
            </a:pPr>
            <a:r>
              <a:rPr lang="en-US" sz="1750" dirty="0">
                <a:solidFill>
                  <a:srgbClr val="272525"/>
                </a:solidFill>
                <a:latin typeface="Source Serif 4 Light" pitchFamily="34" charset="0"/>
                <a:ea typeface="Source Serif 4 Light" pitchFamily="34" charset="-122"/>
                <a:cs typeface="Source Serif 4 Light" pitchFamily="34" charset="-120"/>
              </a:rPr>
              <a:t>02</a:t>
            </a:r>
            <a:endParaRPr lang="en-US" sz="1750" dirty="0"/>
          </a:p>
        </p:txBody>
      </p:sp>
      <p:sp>
        <p:nvSpPr>
          <p:cNvPr id="9" name="Shape 7"/>
          <p:cNvSpPr/>
          <p:nvPr/>
        </p:nvSpPr>
        <p:spPr>
          <a:xfrm>
            <a:off x="5210770" y="3697248"/>
            <a:ext cx="4208740" cy="30480"/>
          </a:xfrm>
          <a:prstGeom prst="rect">
            <a:avLst/>
          </a:prstGeom>
          <a:solidFill>
            <a:srgbClr val="BE49DF"/>
          </a:solidFill>
          <a:ln/>
        </p:spPr>
      </p:sp>
      <p:sp>
        <p:nvSpPr>
          <p:cNvPr id="10" name="Text 8"/>
          <p:cNvSpPr/>
          <p:nvPr/>
        </p:nvSpPr>
        <p:spPr>
          <a:xfrm>
            <a:off x="5210770" y="3869531"/>
            <a:ext cx="2620089" cy="327541"/>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4 Semi Bold" pitchFamily="34" charset="0"/>
                <a:ea typeface="Source Serif 4 Semi Bold" pitchFamily="34" charset="-122"/>
                <a:cs typeface="Source Serif 4 Semi Bold" pitchFamily="34" charset="-120"/>
              </a:rPr>
              <a:t>Masofadan zondlash</a:t>
            </a:r>
            <a:endParaRPr lang="en-US" sz="2050" dirty="0"/>
          </a:p>
        </p:txBody>
      </p:sp>
      <p:sp>
        <p:nvSpPr>
          <p:cNvPr id="11" name="Text 9"/>
          <p:cNvSpPr/>
          <p:nvPr/>
        </p:nvSpPr>
        <p:spPr>
          <a:xfrm>
            <a:off x="5210770" y="4330660"/>
            <a:ext cx="4208740" cy="2138124"/>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Source Sans 3" pitchFamily="34" charset="0"/>
                <a:ea typeface="Source Sans 3" pitchFamily="34" charset="-122"/>
                <a:cs typeface="Source Sans 3" pitchFamily="34" charset="-120"/>
              </a:rPr>
              <a:t>Dronlar, sun'iy yo'ldoshlar va samolyotlar yordamida olingan fotosuratlar, multispektral tasvirlar va lazer skanerlash (LiDAR) ma'lumotlari relyef, yer qoplami va boshqa tabiiy obyektlar haqida batafsil ma'lumot beradi.</a:t>
            </a:r>
            <a:endParaRPr lang="en-US" sz="1750" dirty="0"/>
          </a:p>
        </p:txBody>
      </p:sp>
      <p:sp>
        <p:nvSpPr>
          <p:cNvPr id="12" name="Text 10"/>
          <p:cNvSpPr/>
          <p:nvPr/>
        </p:nvSpPr>
        <p:spPr>
          <a:xfrm>
            <a:off x="9642158" y="3349228"/>
            <a:ext cx="222647" cy="278368"/>
          </a:xfrm>
          <a:prstGeom prst="rect">
            <a:avLst/>
          </a:prstGeom>
          <a:noFill/>
          <a:ln/>
        </p:spPr>
        <p:txBody>
          <a:bodyPr wrap="none" lIns="0" tIns="0" rIns="0" bIns="0" rtlCol="0" anchor="t"/>
          <a:lstStyle/>
          <a:p>
            <a:pPr marL="0" indent="0" algn="l">
              <a:lnSpc>
                <a:spcPts val="2800"/>
              </a:lnSpc>
              <a:buNone/>
            </a:pPr>
            <a:r>
              <a:rPr lang="en-US" sz="1750" dirty="0">
                <a:solidFill>
                  <a:srgbClr val="272525"/>
                </a:solidFill>
                <a:latin typeface="Source Serif 4 Light" pitchFamily="34" charset="0"/>
                <a:ea typeface="Source Serif 4 Light" pitchFamily="34" charset="-122"/>
                <a:cs typeface="Source Serif 4 Light" pitchFamily="34" charset="-120"/>
              </a:rPr>
              <a:t>03</a:t>
            </a:r>
            <a:endParaRPr lang="en-US" sz="1750" dirty="0"/>
          </a:p>
        </p:txBody>
      </p:sp>
      <p:sp>
        <p:nvSpPr>
          <p:cNvPr id="13" name="Shape 11"/>
          <p:cNvSpPr/>
          <p:nvPr/>
        </p:nvSpPr>
        <p:spPr>
          <a:xfrm>
            <a:off x="9642158" y="3697248"/>
            <a:ext cx="4208740" cy="30480"/>
          </a:xfrm>
          <a:prstGeom prst="rect">
            <a:avLst/>
          </a:prstGeom>
          <a:solidFill>
            <a:srgbClr val="BE49DF"/>
          </a:solidFill>
          <a:ln/>
        </p:spPr>
      </p:sp>
      <p:sp>
        <p:nvSpPr>
          <p:cNvPr id="14" name="Text 12"/>
          <p:cNvSpPr/>
          <p:nvPr/>
        </p:nvSpPr>
        <p:spPr>
          <a:xfrm>
            <a:off x="9642158" y="3869531"/>
            <a:ext cx="3438525" cy="327541"/>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4 Semi Bold" pitchFamily="34" charset="0"/>
                <a:ea typeface="Source Serif 4 Semi Bold" pitchFamily="34" charset="-122"/>
                <a:cs typeface="Source Serif 4 Semi Bold" pitchFamily="34" charset="-120"/>
              </a:rPr>
              <a:t>Ma'lumotlarni birlashtirish</a:t>
            </a:r>
            <a:endParaRPr lang="en-US" sz="2050" dirty="0"/>
          </a:p>
        </p:txBody>
      </p:sp>
      <p:sp>
        <p:nvSpPr>
          <p:cNvPr id="15" name="Text 13"/>
          <p:cNvSpPr/>
          <p:nvPr/>
        </p:nvSpPr>
        <p:spPr>
          <a:xfrm>
            <a:off x="9642158" y="4330660"/>
            <a:ext cx="4208740" cy="1781770"/>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Source Sans 3" pitchFamily="34" charset="0"/>
                <a:ea typeface="Source Sans 3" pitchFamily="34" charset="-122"/>
                <a:cs typeface="Source Sans 3" pitchFamily="34" charset="-120"/>
              </a:rPr>
              <a:t>Barcha ma'lumotlar GAT platformalarida qayta ishlanib, ularning georeferensiyasi (xaritaga bog'lash) amalga oshiriladi. Bu orqali xaritalar doimiy ravishda yangilanadi va aniqligi oshiriladi.</a:t>
            </a:r>
            <a:endParaRPr lang="en-US" sz="1750" dirty="0"/>
          </a:p>
        </p:txBody>
      </p:sp>
      <p:sp>
        <p:nvSpPr>
          <p:cNvPr id="16" name="Text 14"/>
          <p:cNvSpPr/>
          <p:nvPr/>
        </p:nvSpPr>
        <p:spPr>
          <a:xfrm>
            <a:off x="779383" y="6886218"/>
            <a:ext cx="13071634" cy="712708"/>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Source Sans 3" pitchFamily="34" charset="0"/>
                <a:ea typeface="Source Sans 3" pitchFamily="34" charset="-122"/>
                <a:cs typeface="Source Sans 3" pitchFamily="34" charset="-120"/>
              </a:rPr>
              <a:t>Misol uchun, qishloq xo'jaligida dronlar orqali olingan ekin maydonlarining tasvirlari GAT tizimiga kiritilib, tuproq holati, o'simliklarning rivojlanishi haqidagi ma'lumotlar bilan bog'lanadi. Bu dehqonlarga hosildorlikni oshirish uchun aniq qarorlar qabul qilishga yordam beradi.</a:t>
            </a:r>
            <a:endParaRPr lang="en-US" sz="1750" dirty="0"/>
          </a:p>
        </p:txBody>
      </p:sp>
      <p:sp>
        <p:nvSpPr>
          <p:cNvPr id="17" name="Прямоугольник 16">
            <a:extLst>
              <a:ext uri="{FF2B5EF4-FFF2-40B4-BE49-F238E27FC236}">
                <a16:creationId xmlns:a16="http://schemas.microsoft.com/office/drawing/2014/main" id="{66A3BF82-0CD3-A781-63F2-15409B25034E}"/>
              </a:ext>
            </a:extLst>
          </p:cNvPr>
          <p:cNvSpPr/>
          <p:nvPr/>
        </p:nvSpPr>
        <p:spPr>
          <a:xfrm>
            <a:off x="12753474" y="7716253"/>
            <a:ext cx="1876926" cy="513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94585"/>
          </a:xfrm>
          <a:prstGeom prst="rect">
            <a:avLst/>
          </a:prstGeom>
        </p:spPr>
      </p:pic>
      <p:sp>
        <p:nvSpPr>
          <p:cNvPr id="3" name="Text 0"/>
          <p:cNvSpPr/>
          <p:nvPr/>
        </p:nvSpPr>
        <p:spPr>
          <a:xfrm>
            <a:off x="670441" y="3074789"/>
            <a:ext cx="13091517" cy="563404"/>
          </a:xfrm>
          <a:prstGeom prst="rect">
            <a:avLst/>
          </a:prstGeom>
          <a:noFill/>
          <a:ln/>
        </p:spPr>
        <p:txBody>
          <a:bodyPr wrap="none" lIns="0" tIns="0" rIns="0" bIns="0" rtlCol="0" anchor="t"/>
          <a:lstStyle/>
          <a:p>
            <a:pPr marL="0" indent="0" algn="l">
              <a:lnSpc>
                <a:spcPts val="4400"/>
              </a:lnSpc>
              <a:buNone/>
            </a:pPr>
            <a:r>
              <a:rPr lang="en-US" sz="3500" dirty="0">
                <a:solidFill>
                  <a:srgbClr val="000000"/>
                </a:solidFill>
                <a:latin typeface="Source Serif 4 Semi Bold" pitchFamily="34" charset="0"/>
                <a:ea typeface="Source Serif 4 Semi Bold" pitchFamily="34" charset="-122"/>
                <a:cs typeface="Source Serif 4 Semi Bold" pitchFamily="34" charset="-120"/>
              </a:rPr>
              <a:t>Geografik koordinatalar va masshtabning hayotiy ahamiyati</a:t>
            </a:r>
            <a:endParaRPr lang="en-US" sz="3500" dirty="0"/>
          </a:p>
        </p:txBody>
      </p:sp>
      <p:sp>
        <p:nvSpPr>
          <p:cNvPr id="4" name="Text 1"/>
          <p:cNvSpPr/>
          <p:nvPr/>
        </p:nvSpPr>
        <p:spPr>
          <a:xfrm>
            <a:off x="670441" y="3925491"/>
            <a:ext cx="13289518"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Source Sans 3" pitchFamily="34" charset="0"/>
                <a:ea typeface="Source Sans 3" pitchFamily="34" charset="-122"/>
                <a:cs typeface="Source Sans 3" pitchFamily="34" charset="-120"/>
              </a:rPr>
              <a:t>Geografik koordinatalar va xarita masshtablari kundalik hayotimiz va turli sohalarda keng qo‘llaniladigan fundamental tushunchalardir.</a:t>
            </a:r>
            <a:endParaRPr lang="en-US" sz="1500" dirty="0"/>
          </a:p>
        </p:txBody>
      </p:sp>
      <p:sp>
        <p:nvSpPr>
          <p:cNvPr id="5" name="Shape 2"/>
          <p:cNvSpPr/>
          <p:nvPr/>
        </p:nvSpPr>
        <p:spPr>
          <a:xfrm>
            <a:off x="670441" y="4447461"/>
            <a:ext cx="4302204" cy="574596"/>
          </a:xfrm>
          <a:prstGeom prst="roundRect">
            <a:avLst>
              <a:gd name="adj" fmla="val 480087"/>
            </a:avLst>
          </a:prstGeom>
          <a:solidFill>
            <a:srgbClr val="BE49DF"/>
          </a:solidFill>
          <a:ln w="7620">
            <a:solidFill>
              <a:srgbClr val="D762F8"/>
            </a:solidFill>
            <a:prstDash val="solid"/>
          </a:ln>
        </p:spPr>
      </p:sp>
      <p:pic>
        <p:nvPicPr>
          <p:cNvPr id="6" name="Image 1" descr="preencoded.png"/>
          <p:cNvPicPr>
            <a:picLocks noChangeAspect="1"/>
          </p:cNvPicPr>
          <p:nvPr/>
        </p:nvPicPr>
        <p:blipFill>
          <a:blip r:embed="rId4"/>
          <a:stretch>
            <a:fillRect/>
          </a:stretch>
        </p:blipFill>
        <p:spPr>
          <a:xfrm>
            <a:off x="2677835" y="4555212"/>
            <a:ext cx="287298" cy="359092"/>
          </a:xfrm>
          <a:prstGeom prst="rect">
            <a:avLst/>
          </a:prstGeom>
        </p:spPr>
      </p:pic>
      <p:sp>
        <p:nvSpPr>
          <p:cNvPr id="7" name="Text 3"/>
          <p:cNvSpPr/>
          <p:nvPr/>
        </p:nvSpPr>
        <p:spPr>
          <a:xfrm>
            <a:off x="861893" y="5213509"/>
            <a:ext cx="2253615" cy="281702"/>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Source Serif 4 Semi Bold" pitchFamily="34" charset="0"/>
                <a:ea typeface="Source Serif 4 Semi Bold" pitchFamily="34" charset="-122"/>
                <a:cs typeface="Source Serif 4 Semi Bold" pitchFamily="34" charset="-120"/>
              </a:rPr>
              <a:t>Navigatsiya</a:t>
            </a:r>
            <a:endParaRPr lang="en-US" sz="1750" dirty="0"/>
          </a:p>
        </p:txBody>
      </p:sp>
      <p:sp>
        <p:nvSpPr>
          <p:cNvPr id="8" name="Text 4"/>
          <p:cNvSpPr/>
          <p:nvPr/>
        </p:nvSpPr>
        <p:spPr>
          <a:xfrm>
            <a:off x="861893" y="5610106"/>
            <a:ext cx="3919299" cy="919401"/>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3" pitchFamily="34" charset="0"/>
                <a:ea typeface="Source Sans 3" pitchFamily="34" charset="-122"/>
                <a:cs typeface="Source Sans 3" pitchFamily="34" charset="-120"/>
              </a:rPr>
              <a:t>GPS tizimlari (Google Maps, Waze) orqali manzilga yetib borish, qidiruv-qutqaruv operatsiyalarida yo'qolgan odamlarni topish.</a:t>
            </a:r>
            <a:endParaRPr lang="en-US" sz="1500" dirty="0"/>
          </a:p>
        </p:txBody>
      </p:sp>
      <p:sp>
        <p:nvSpPr>
          <p:cNvPr id="9" name="Shape 5"/>
          <p:cNvSpPr/>
          <p:nvPr/>
        </p:nvSpPr>
        <p:spPr>
          <a:xfrm>
            <a:off x="5164098" y="4447461"/>
            <a:ext cx="4302204" cy="574596"/>
          </a:xfrm>
          <a:prstGeom prst="roundRect">
            <a:avLst>
              <a:gd name="adj" fmla="val 480087"/>
            </a:avLst>
          </a:prstGeom>
          <a:solidFill>
            <a:srgbClr val="BE49DF"/>
          </a:solidFill>
          <a:ln w="7620">
            <a:solidFill>
              <a:srgbClr val="D762F8"/>
            </a:solidFill>
            <a:prstDash val="solid"/>
          </a:ln>
        </p:spPr>
      </p:sp>
      <p:pic>
        <p:nvPicPr>
          <p:cNvPr id="10" name="Image 2" descr="preencoded.png"/>
          <p:cNvPicPr>
            <a:picLocks noChangeAspect="1"/>
          </p:cNvPicPr>
          <p:nvPr/>
        </p:nvPicPr>
        <p:blipFill>
          <a:blip r:embed="rId5"/>
          <a:stretch>
            <a:fillRect/>
          </a:stretch>
        </p:blipFill>
        <p:spPr>
          <a:xfrm>
            <a:off x="7171492" y="4555212"/>
            <a:ext cx="287298" cy="359092"/>
          </a:xfrm>
          <a:prstGeom prst="rect">
            <a:avLst/>
          </a:prstGeom>
        </p:spPr>
      </p:pic>
      <p:sp>
        <p:nvSpPr>
          <p:cNvPr id="11" name="Text 6"/>
          <p:cNvSpPr/>
          <p:nvPr/>
        </p:nvSpPr>
        <p:spPr>
          <a:xfrm>
            <a:off x="5355550" y="5213509"/>
            <a:ext cx="2253615" cy="281702"/>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Source Serif 4 Semi Bold" pitchFamily="34" charset="0"/>
                <a:ea typeface="Source Serif 4 Semi Bold" pitchFamily="34" charset="-122"/>
                <a:cs typeface="Source Serif 4 Semi Bold" pitchFamily="34" charset="-120"/>
              </a:rPr>
              <a:t>Fan va Tadqiqot</a:t>
            </a:r>
            <a:endParaRPr lang="en-US" sz="1750" dirty="0"/>
          </a:p>
        </p:txBody>
      </p:sp>
      <p:sp>
        <p:nvSpPr>
          <p:cNvPr id="12" name="Text 7"/>
          <p:cNvSpPr/>
          <p:nvPr/>
        </p:nvSpPr>
        <p:spPr>
          <a:xfrm>
            <a:off x="5355550" y="5610106"/>
            <a:ext cx="3919299" cy="919401"/>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3" pitchFamily="34" charset="0"/>
                <a:ea typeface="Source Sans 3" pitchFamily="34" charset="-122"/>
                <a:cs typeface="Source Sans 3" pitchFamily="34" charset="-120"/>
              </a:rPr>
              <a:t>Geologik tadqiqotlar, arxeologik qazishmalar, atrof-muhit monitoringi va tabiiy ofatlarni bashorat qilish.</a:t>
            </a:r>
            <a:endParaRPr lang="en-US" sz="1500" dirty="0"/>
          </a:p>
        </p:txBody>
      </p:sp>
      <p:sp>
        <p:nvSpPr>
          <p:cNvPr id="13" name="Shape 8"/>
          <p:cNvSpPr/>
          <p:nvPr/>
        </p:nvSpPr>
        <p:spPr>
          <a:xfrm>
            <a:off x="9657755" y="4447461"/>
            <a:ext cx="4302204" cy="574596"/>
          </a:xfrm>
          <a:prstGeom prst="roundRect">
            <a:avLst>
              <a:gd name="adj" fmla="val 480087"/>
            </a:avLst>
          </a:prstGeom>
          <a:solidFill>
            <a:srgbClr val="BE49DF"/>
          </a:solidFill>
          <a:ln w="7620">
            <a:solidFill>
              <a:srgbClr val="D762F8"/>
            </a:solidFill>
            <a:prstDash val="solid"/>
          </a:ln>
        </p:spPr>
      </p:sp>
      <p:pic>
        <p:nvPicPr>
          <p:cNvPr id="14" name="Image 3" descr="preencoded.png"/>
          <p:cNvPicPr>
            <a:picLocks noChangeAspect="1"/>
          </p:cNvPicPr>
          <p:nvPr/>
        </p:nvPicPr>
        <p:blipFill>
          <a:blip r:embed="rId6"/>
          <a:stretch>
            <a:fillRect/>
          </a:stretch>
        </p:blipFill>
        <p:spPr>
          <a:xfrm>
            <a:off x="11665148" y="4555212"/>
            <a:ext cx="287298" cy="359092"/>
          </a:xfrm>
          <a:prstGeom prst="rect">
            <a:avLst/>
          </a:prstGeom>
        </p:spPr>
      </p:pic>
      <p:sp>
        <p:nvSpPr>
          <p:cNvPr id="15" name="Text 9"/>
          <p:cNvSpPr/>
          <p:nvPr/>
        </p:nvSpPr>
        <p:spPr>
          <a:xfrm>
            <a:off x="9849207" y="5213509"/>
            <a:ext cx="2253615" cy="281702"/>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Source Serif 4 Semi Bold" pitchFamily="34" charset="0"/>
                <a:ea typeface="Source Serif 4 Semi Bold" pitchFamily="34" charset="-122"/>
                <a:cs typeface="Source Serif 4 Semi Bold" pitchFamily="34" charset="-120"/>
              </a:rPr>
              <a:t>Shaharsozlik</a:t>
            </a:r>
            <a:endParaRPr lang="en-US" sz="1750" dirty="0"/>
          </a:p>
        </p:txBody>
      </p:sp>
      <p:sp>
        <p:nvSpPr>
          <p:cNvPr id="16" name="Text 10"/>
          <p:cNvSpPr/>
          <p:nvPr/>
        </p:nvSpPr>
        <p:spPr>
          <a:xfrm>
            <a:off x="9849207" y="5610106"/>
            <a:ext cx="3919299" cy="919401"/>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3" pitchFamily="34" charset="0"/>
                <a:ea typeface="Source Sans 3" pitchFamily="34" charset="-122"/>
                <a:cs typeface="Source Sans 3" pitchFamily="34" charset="-120"/>
              </a:rPr>
              <a:t>Yangi binolar qurish, yo'llarni loyihalash, infratuzilmani rejalashtirish va yer resurslarini boshqarish.</a:t>
            </a:r>
            <a:endParaRPr lang="en-US" sz="1500" dirty="0"/>
          </a:p>
        </p:txBody>
      </p:sp>
      <p:sp>
        <p:nvSpPr>
          <p:cNvPr id="17" name="Text 11"/>
          <p:cNvSpPr/>
          <p:nvPr/>
        </p:nvSpPr>
        <p:spPr>
          <a:xfrm>
            <a:off x="670441" y="6936462"/>
            <a:ext cx="13289518" cy="612934"/>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3" pitchFamily="34" charset="0"/>
                <a:ea typeface="Source Sans 3" pitchFamily="34" charset="-122"/>
                <a:cs typeface="Source Sans 3" pitchFamily="34" charset="-120"/>
              </a:rPr>
              <a:t>Turizm sohasida sayyohlar masshtabli xaritalar yordamida marshrutlarni rejalashtiradilar, transport kompaniyalari esa yo'nalishlarni optimallashtiradilar. Qishloq xo'jaligida ekin maydonlarini aniq boshqarish, suvdan samarali foydalanish va hosildorlikni oshirish uchun xaritalar asosida ish olib boriladi.</a:t>
            </a:r>
            <a:endParaRPr lang="en-US" sz="1500" dirty="0"/>
          </a:p>
        </p:txBody>
      </p:sp>
      <p:sp>
        <p:nvSpPr>
          <p:cNvPr id="18" name="Прямоугольник 17">
            <a:extLst>
              <a:ext uri="{FF2B5EF4-FFF2-40B4-BE49-F238E27FC236}">
                <a16:creationId xmlns:a16="http://schemas.microsoft.com/office/drawing/2014/main" id="{D293CCB2-AD1D-4032-FFCA-7B87A7534512}"/>
              </a:ext>
            </a:extLst>
          </p:cNvPr>
          <p:cNvSpPr/>
          <p:nvPr/>
        </p:nvSpPr>
        <p:spPr>
          <a:xfrm>
            <a:off x="12753474" y="7716253"/>
            <a:ext cx="1876926" cy="513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85549" y="592217"/>
            <a:ext cx="7972901" cy="983933"/>
          </a:xfrm>
          <a:prstGeom prst="rect">
            <a:avLst/>
          </a:prstGeom>
          <a:noFill/>
          <a:ln/>
        </p:spPr>
        <p:txBody>
          <a:bodyPr wrap="square" lIns="0" tIns="0" rIns="0" bIns="0" rtlCol="0" anchor="t"/>
          <a:lstStyle/>
          <a:p>
            <a:pPr marL="0" indent="0" algn="l">
              <a:lnSpc>
                <a:spcPts val="3850"/>
              </a:lnSpc>
              <a:buNone/>
            </a:pPr>
            <a:r>
              <a:rPr lang="en-US" sz="3050" dirty="0">
                <a:solidFill>
                  <a:srgbClr val="000000"/>
                </a:solidFill>
                <a:latin typeface="Source Serif 4 Semi Bold" pitchFamily="34" charset="0"/>
                <a:ea typeface="Source Serif 4 Semi Bold" pitchFamily="34" charset="-122"/>
                <a:cs typeface="Source Serif 4 Semi Bold" pitchFamily="34" charset="-120"/>
              </a:rPr>
              <a:t>Xulosa: Geografik koordinatalar va xaritalar – dunyoni anglash kaliti</a:t>
            </a:r>
            <a:endParaRPr lang="en-US" sz="3050" dirty="0"/>
          </a:p>
        </p:txBody>
      </p:sp>
      <p:sp>
        <p:nvSpPr>
          <p:cNvPr id="4" name="Text 1"/>
          <p:cNvSpPr/>
          <p:nvPr/>
        </p:nvSpPr>
        <p:spPr>
          <a:xfrm>
            <a:off x="585549" y="1827014"/>
            <a:ext cx="7972901" cy="535305"/>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Source Sans 3" pitchFamily="34" charset="0"/>
                <a:ea typeface="Source Sans 3" pitchFamily="34" charset="-122"/>
                <a:cs typeface="Source Sans 3" pitchFamily="34" charset="-120"/>
              </a:rPr>
              <a:t>Geografik koordinatalar va topografik xaritalar insoniyatga Yer yuzasini anglash, boshqarish va o'rganishda muhim vosita bo'lib xizmat qiladi. Ularning masshtabi esa ma'lumotlarning batafsillik darajasini belgilaydi.</a:t>
            </a:r>
            <a:endParaRPr lang="en-US" sz="1300" dirty="0"/>
          </a:p>
        </p:txBody>
      </p:sp>
      <p:sp>
        <p:nvSpPr>
          <p:cNvPr id="5" name="Shape 2"/>
          <p:cNvSpPr/>
          <p:nvPr/>
        </p:nvSpPr>
        <p:spPr>
          <a:xfrm>
            <a:off x="585549" y="2550438"/>
            <a:ext cx="22860" cy="4363522"/>
          </a:xfrm>
          <a:prstGeom prst="roundRect">
            <a:avLst>
              <a:gd name="adj" fmla="val 307381"/>
            </a:avLst>
          </a:prstGeom>
          <a:solidFill>
            <a:srgbClr val="D762F8"/>
          </a:solidFill>
          <a:ln/>
        </p:spPr>
      </p:sp>
      <p:sp>
        <p:nvSpPr>
          <p:cNvPr id="6" name="Shape 3"/>
          <p:cNvSpPr/>
          <p:nvPr/>
        </p:nvSpPr>
        <p:spPr>
          <a:xfrm>
            <a:off x="608409" y="2550438"/>
            <a:ext cx="7972901" cy="1231463"/>
          </a:xfrm>
          <a:prstGeom prst="rect">
            <a:avLst/>
          </a:prstGeom>
          <a:solidFill>
            <a:srgbClr val="F0D4F7"/>
          </a:solidFill>
          <a:ln w="7620">
            <a:solidFill>
              <a:srgbClr val="BE49DF"/>
            </a:solidFill>
            <a:prstDash val="solid"/>
          </a:ln>
        </p:spPr>
      </p:sp>
      <p:sp>
        <p:nvSpPr>
          <p:cNvPr id="7" name="Text 4"/>
          <p:cNvSpPr/>
          <p:nvPr/>
        </p:nvSpPr>
        <p:spPr>
          <a:xfrm>
            <a:off x="775692" y="2725341"/>
            <a:ext cx="2321004" cy="245983"/>
          </a:xfrm>
          <a:prstGeom prst="rect">
            <a:avLst/>
          </a:prstGeom>
          <a:noFill/>
          <a:ln/>
        </p:spPr>
        <p:txBody>
          <a:bodyPr wrap="none" lIns="0" tIns="0" rIns="0" bIns="0" rtlCol="0" anchor="t"/>
          <a:lstStyle/>
          <a:p>
            <a:pPr marL="0" indent="0" algn="l">
              <a:lnSpc>
                <a:spcPts val="190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Aniqlik va Tushunarlilik</a:t>
            </a:r>
            <a:endParaRPr lang="en-US" sz="1500" dirty="0"/>
          </a:p>
        </p:txBody>
      </p:sp>
      <p:sp>
        <p:nvSpPr>
          <p:cNvPr id="8" name="Text 5"/>
          <p:cNvSpPr/>
          <p:nvPr/>
        </p:nvSpPr>
        <p:spPr>
          <a:xfrm>
            <a:off x="775692" y="3071693"/>
            <a:ext cx="7630716" cy="535305"/>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Source Sans 3" pitchFamily="34" charset="0"/>
                <a:ea typeface="Source Sans 3" pitchFamily="34" charset="-122"/>
                <a:cs typeface="Source Sans 3" pitchFamily="34" charset="-120"/>
              </a:rPr>
              <a:t>Koordinatalar har bir nuqtani aniq joylashuvini ta'minlaydi, xaritalar esa murakkab ma'lumotlarni vizual tarzda tushunarli qiladi.</a:t>
            </a:r>
            <a:endParaRPr lang="en-US" sz="1300" dirty="0"/>
          </a:p>
        </p:txBody>
      </p:sp>
      <p:sp>
        <p:nvSpPr>
          <p:cNvPr id="9" name="Shape 6"/>
          <p:cNvSpPr/>
          <p:nvPr/>
        </p:nvSpPr>
        <p:spPr>
          <a:xfrm>
            <a:off x="608409" y="4116467"/>
            <a:ext cx="7972901" cy="1231463"/>
          </a:xfrm>
          <a:prstGeom prst="rect">
            <a:avLst/>
          </a:prstGeom>
          <a:solidFill>
            <a:srgbClr val="F0D4F7"/>
          </a:solidFill>
          <a:ln w="7620">
            <a:solidFill>
              <a:srgbClr val="BE49DF"/>
            </a:solidFill>
            <a:prstDash val="solid"/>
          </a:ln>
        </p:spPr>
      </p:sp>
      <p:sp>
        <p:nvSpPr>
          <p:cNvPr id="10" name="Text 7"/>
          <p:cNvSpPr/>
          <p:nvPr/>
        </p:nvSpPr>
        <p:spPr>
          <a:xfrm>
            <a:off x="775692" y="4291370"/>
            <a:ext cx="1968222" cy="245983"/>
          </a:xfrm>
          <a:prstGeom prst="rect">
            <a:avLst/>
          </a:prstGeom>
          <a:noFill/>
          <a:ln/>
        </p:spPr>
        <p:txBody>
          <a:bodyPr wrap="none" lIns="0" tIns="0" rIns="0" bIns="0" rtlCol="0" anchor="t"/>
          <a:lstStyle/>
          <a:p>
            <a:pPr marL="0" indent="0" algn="l">
              <a:lnSpc>
                <a:spcPts val="190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Kompleks O‘rganish</a:t>
            </a:r>
            <a:endParaRPr lang="en-US" sz="1500" dirty="0"/>
          </a:p>
        </p:txBody>
      </p:sp>
      <p:sp>
        <p:nvSpPr>
          <p:cNvPr id="11" name="Text 8"/>
          <p:cNvSpPr/>
          <p:nvPr/>
        </p:nvSpPr>
        <p:spPr>
          <a:xfrm>
            <a:off x="775692" y="4637722"/>
            <a:ext cx="7630716" cy="535305"/>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Source Sans 3" pitchFamily="34" charset="0"/>
                <a:ea typeface="Source Sans 3" pitchFamily="34" charset="-122"/>
                <a:cs typeface="Source Sans 3" pitchFamily="34" charset="-120"/>
              </a:rPr>
              <a:t>Topografik xaritalar tabiiy muhitni, relyefni va inson faoliyatini chuqur o'rganishga yordam beradi, bu esa atrof-muhitni muhofaza qilish va resurslarni boshqarish uchun muhimdir.</a:t>
            </a:r>
            <a:endParaRPr lang="en-US" sz="1300" dirty="0"/>
          </a:p>
        </p:txBody>
      </p:sp>
      <p:sp>
        <p:nvSpPr>
          <p:cNvPr id="12" name="Shape 9"/>
          <p:cNvSpPr/>
          <p:nvPr/>
        </p:nvSpPr>
        <p:spPr>
          <a:xfrm>
            <a:off x="608409" y="5682496"/>
            <a:ext cx="7972901" cy="1231463"/>
          </a:xfrm>
          <a:prstGeom prst="rect">
            <a:avLst/>
          </a:prstGeom>
          <a:solidFill>
            <a:srgbClr val="F0D4F7"/>
          </a:solidFill>
          <a:ln w="7620">
            <a:solidFill>
              <a:srgbClr val="BE49DF"/>
            </a:solidFill>
            <a:prstDash val="solid"/>
          </a:ln>
        </p:spPr>
      </p:sp>
      <p:sp>
        <p:nvSpPr>
          <p:cNvPr id="13" name="Text 10"/>
          <p:cNvSpPr/>
          <p:nvPr/>
        </p:nvSpPr>
        <p:spPr>
          <a:xfrm>
            <a:off x="775692" y="5857399"/>
            <a:ext cx="2239923" cy="245983"/>
          </a:xfrm>
          <a:prstGeom prst="rect">
            <a:avLst/>
          </a:prstGeom>
          <a:noFill/>
          <a:ln/>
        </p:spPr>
        <p:txBody>
          <a:bodyPr wrap="none" lIns="0" tIns="0" rIns="0" bIns="0" rtlCol="0" anchor="t"/>
          <a:lstStyle/>
          <a:p>
            <a:pPr marL="0" indent="0" algn="l">
              <a:lnSpc>
                <a:spcPts val="190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Kelajak Texnologiyalari</a:t>
            </a:r>
            <a:endParaRPr lang="en-US" sz="1500" dirty="0"/>
          </a:p>
        </p:txBody>
      </p:sp>
      <p:sp>
        <p:nvSpPr>
          <p:cNvPr id="14" name="Text 11"/>
          <p:cNvSpPr/>
          <p:nvPr/>
        </p:nvSpPr>
        <p:spPr>
          <a:xfrm>
            <a:off x="775692" y="6203752"/>
            <a:ext cx="7630716" cy="535305"/>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Source Sans 3" pitchFamily="34" charset="0"/>
                <a:ea typeface="Source Sans 3" pitchFamily="34" charset="-122"/>
                <a:cs typeface="Source Sans 3" pitchFamily="34" charset="-120"/>
              </a:rPr>
              <a:t>GAT, sun'iy yo'ldosh texnologiyalari va raqamli xaritagrafiya sohasidagi yutuqlar tufayli xaritalar yanada interaktiv va dinamik bo'lib, hayotimizning ajralmas qismiga aylandi.</a:t>
            </a:r>
            <a:endParaRPr lang="en-US" sz="1300" dirty="0"/>
          </a:p>
        </p:txBody>
      </p:sp>
      <p:sp>
        <p:nvSpPr>
          <p:cNvPr id="15" name="Text 12"/>
          <p:cNvSpPr/>
          <p:nvPr/>
        </p:nvSpPr>
        <p:spPr>
          <a:xfrm>
            <a:off x="585549" y="7102078"/>
            <a:ext cx="7972901" cy="535305"/>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Source Sans 3" pitchFamily="34" charset="0"/>
                <a:ea typeface="Source Sans 3" pitchFamily="34" charset="-122"/>
                <a:cs typeface="Source Sans 3" pitchFamily="34" charset="-120"/>
              </a:rPr>
              <a:t>Bu vositalar nafaqat fan va texnologiya, balki kundalik hayotimizda ham yo'nalish topish, rejalashtirish va dunyoni kashf qilish imkoniyatini beradi.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1253</Words>
  <Application>Microsoft Office PowerPoint</Application>
  <PresentationFormat>Произвольный</PresentationFormat>
  <Paragraphs>95</Paragraphs>
  <Slides>10</Slides>
  <Notes>10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10</vt:i4>
      </vt:variant>
    </vt:vector>
  </HeadingPairs>
  <TitlesOfParts>
    <vt:vector size="15" baseType="lpstr">
      <vt:lpstr>Arial</vt:lpstr>
      <vt:lpstr>Source Serif 4 Light</vt:lpstr>
      <vt:lpstr>Source Serif 4 Semi Bold</vt:lpstr>
      <vt:lpstr>Source Sans 3</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Azizbek</cp:lastModifiedBy>
  <cp:revision>2</cp:revision>
  <dcterms:created xsi:type="dcterms:W3CDTF">2025-10-05T04:43:14Z</dcterms:created>
  <dcterms:modified xsi:type="dcterms:W3CDTF">2025-10-05T16:25:17Z</dcterms:modified>
</cp:coreProperties>
</file>