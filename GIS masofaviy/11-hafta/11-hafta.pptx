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Consolas" panose="020B0609020204030204" pitchFamily="49" charset="0"/>
      <p:regular r:id="rId8"/>
      <p:bold r:id="rId9"/>
      <p:italic r:id="rId10"/>
      <p:boldItalic r:id="rId11"/>
    </p:embeddedFont>
    <p:embeddedFont>
      <p:font typeface="Source Sans 3" panose="020B0604020202020204" charset="0"/>
      <p:regular r:id="rId12"/>
    </p:embeddedFont>
    <p:embeddedFont>
      <p:font typeface="Source Serif 4 Semi Bold" panose="020B0604020202020204" charset="0"/>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96"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381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028706"/>
            <a:ext cx="7468553" cy="1847731"/>
          </a:xfrm>
          <a:prstGeom prst="rect">
            <a:avLst/>
          </a:prstGeom>
          <a:noFill/>
          <a:ln/>
        </p:spPr>
        <p:txBody>
          <a:bodyPr wrap="square" lIns="0" tIns="0" rIns="0" bIns="0" rtlCol="0" anchor="t"/>
          <a:lstStyle/>
          <a:p>
            <a:pPr marL="0" indent="0" algn="l">
              <a:lnSpc>
                <a:spcPts val="4850"/>
              </a:lnSpc>
              <a:buNone/>
            </a:pPr>
            <a:r>
              <a:rPr lang="en-US" sz="3850" dirty="0">
                <a:solidFill>
                  <a:srgbClr val="000000"/>
                </a:solidFill>
                <a:latin typeface="Source Serif 4 Semi Bold" pitchFamily="34" charset="0"/>
                <a:ea typeface="Source Serif 4 Semi Bold" pitchFamily="34" charset="-122"/>
                <a:cs typeface="Source Serif 4 Semi Bold" pitchFamily="34" charset="-120"/>
              </a:rPr>
              <a:t>Geoma’lumotlar Bazalari: PostgreSQL va PostGIS bilan Ishlash</a:t>
            </a:r>
            <a:endParaRPr lang="en-US" sz="3850" dirty="0"/>
          </a:p>
        </p:txBody>
      </p:sp>
      <p:sp>
        <p:nvSpPr>
          <p:cNvPr id="4" name="Text 1"/>
          <p:cNvSpPr/>
          <p:nvPr/>
        </p:nvSpPr>
        <p:spPr>
          <a:xfrm>
            <a:off x="837724" y="4190524"/>
            <a:ext cx="7468553" cy="2010251"/>
          </a:xfrm>
          <a:prstGeom prst="rect">
            <a:avLst/>
          </a:prstGeom>
          <a:noFill/>
          <a:ln/>
        </p:spPr>
        <p:txBody>
          <a:bodyPr wrap="square" lIns="0" tIns="0" rIns="0" bIns="0" rtlCol="0" anchor="t"/>
          <a:lstStyle/>
          <a:p>
            <a:pPr marL="0" indent="0" algn="l">
              <a:lnSpc>
                <a:spcPts val="2600"/>
              </a:lnSpc>
              <a:buNone/>
            </a:pPr>
            <a:r>
              <a:rPr lang="en-US" sz="1600" dirty="0">
                <a:solidFill>
                  <a:srgbClr val="272525"/>
                </a:solidFill>
                <a:latin typeface="Source Sans 3" pitchFamily="34" charset="0"/>
                <a:ea typeface="Source Sans 3" pitchFamily="34" charset="-122"/>
                <a:cs typeface="Source Sans 3" pitchFamily="34" charset="-120"/>
              </a:rPr>
              <a:t>Ushbu taqdimotda biz geoma’lumotlar bazalari, xususan, PostgreSQL va uning PostGIS kengaytmasi bilan ishlashning asosiy jihatlarini ko‘rib chiqamiz. Geografik ma’lumotlarni samarali saqlash, boshqarish va tahlil qilish zamonaviy dunyoda juda muhim ahamiyatga ega. Biz jadvallar yaratish, ularni tahrirlash va spatial so‘rovlar bajarish jarayonlarini o‘rganamiz, bu esa ma’lumotlaringizni yanada qimmatli qilishga yordam beradi.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8862" y="287893"/>
            <a:ext cx="3543181" cy="308015"/>
          </a:xfrm>
          <a:prstGeom prst="rect">
            <a:avLst/>
          </a:prstGeom>
          <a:noFill/>
          <a:ln/>
        </p:spPr>
        <p:txBody>
          <a:bodyPr wrap="none" lIns="0" tIns="0" rIns="0" bIns="0" rtlCol="0" anchor="t"/>
          <a:lstStyle/>
          <a:p>
            <a:pPr marL="0" indent="0" algn="l">
              <a:lnSpc>
                <a:spcPts val="2400"/>
              </a:lnSpc>
              <a:buNone/>
            </a:pPr>
            <a:r>
              <a:rPr lang="en-US" sz="1900" dirty="0">
                <a:solidFill>
                  <a:srgbClr val="000000"/>
                </a:solidFill>
                <a:latin typeface="Source Serif 4 Semi Bold" pitchFamily="34" charset="0"/>
                <a:ea typeface="Source Serif 4 Semi Bold" pitchFamily="34" charset="-122"/>
                <a:cs typeface="Source Serif 4 Semi Bold" pitchFamily="34" charset="-120"/>
              </a:rPr>
              <a:t>Geoma’lumotlar Bazasi Nima?</a:t>
            </a:r>
            <a:endParaRPr lang="en-US" sz="1900" dirty="0"/>
          </a:p>
        </p:txBody>
      </p:sp>
      <p:sp>
        <p:nvSpPr>
          <p:cNvPr id="3" name="Shape 1"/>
          <p:cNvSpPr/>
          <p:nvPr/>
        </p:nvSpPr>
        <p:spPr>
          <a:xfrm>
            <a:off x="418862" y="870704"/>
            <a:ext cx="6768584" cy="7602141"/>
          </a:xfrm>
          <a:prstGeom prst="roundRect">
            <a:avLst>
              <a:gd name="adj" fmla="val 1081"/>
            </a:avLst>
          </a:prstGeom>
          <a:solidFill>
            <a:srgbClr val="FFFFFF">
              <a:alpha val="95000"/>
            </a:srgbClr>
          </a:solidFill>
          <a:ln w="15240">
            <a:solidFill>
              <a:srgbClr val="D6BADD"/>
            </a:solidFill>
            <a:prstDash val="solid"/>
          </a:ln>
        </p:spPr>
      </p:sp>
      <p:sp>
        <p:nvSpPr>
          <p:cNvPr id="4" name="Shape 2"/>
          <p:cNvSpPr/>
          <p:nvPr/>
        </p:nvSpPr>
        <p:spPr>
          <a:xfrm>
            <a:off x="403622" y="870704"/>
            <a:ext cx="60960" cy="7602141"/>
          </a:xfrm>
          <a:prstGeom prst="roundRect">
            <a:avLst>
              <a:gd name="adj" fmla="val 72156"/>
            </a:avLst>
          </a:prstGeom>
          <a:solidFill>
            <a:srgbClr val="BE49DF"/>
          </a:solidFill>
          <a:ln/>
        </p:spPr>
      </p:sp>
      <p:sp>
        <p:nvSpPr>
          <p:cNvPr id="5" name="Text 3"/>
          <p:cNvSpPr/>
          <p:nvPr/>
        </p:nvSpPr>
        <p:spPr>
          <a:xfrm>
            <a:off x="584478" y="990600"/>
            <a:ext cx="1370648"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Geoma’lumotlar Bazasi</a:t>
            </a:r>
            <a:endParaRPr lang="en-US" sz="950" dirty="0"/>
          </a:p>
        </p:txBody>
      </p:sp>
      <p:sp>
        <p:nvSpPr>
          <p:cNvPr id="6" name="Text 4"/>
          <p:cNvSpPr/>
          <p:nvPr/>
        </p:nvSpPr>
        <p:spPr>
          <a:xfrm>
            <a:off x="584478" y="1249204"/>
            <a:ext cx="6483072" cy="50292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Geoma’lumotlar bazasi – bu geografik ma’lumotlarni (joylashuv, shakl, o‘lcham va boshqalar) saqlash, boshqarish, tahlil qilish va vizuallashtirish uchun maxsus mo‘ljallangan ma’lumotlar bazasi tizimi. U an’anaviy ma’lumotlar bazalaridan farqli o‘laroq, spatial obyektlar va ularning o‘zaro munosabatlarini samarali boshqarish uchun kengaytirilgan funksionallikka ega.</a:t>
            </a:r>
            <a:endParaRPr lang="en-US" sz="800" dirty="0"/>
          </a:p>
        </p:txBody>
      </p:sp>
      <p:pic>
        <p:nvPicPr>
          <p:cNvPr id="7" name="Image 0" descr="preencoded.png"/>
          <p:cNvPicPr>
            <a:picLocks noChangeAspect="1"/>
          </p:cNvPicPr>
          <p:nvPr/>
        </p:nvPicPr>
        <p:blipFill>
          <a:blip r:embed="rId3"/>
          <a:stretch>
            <a:fillRect/>
          </a:stretch>
        </p:blipFill>
        <p:spPr>
          <a:xfrm>
            <a:off x="584478" y="1869877"/>
            <a:ext cx="6483072" cy="6483072"/>
          </a:xfrm>
          <a:prstGeom prst="rect">
            <a:avLst/>
          </a:prstGeom>
        </p:spPr>
      </p:pic>
      <p:sp>
        <p:nvSpPr>
          <p:cNvPr id="8" name="Shape 5"/>
          <p:cNvSpPr/>
          <p:nvPr/>
        </p:nvSpPr>
        <p:spPr>
          <a:xfrm>
            <a:off x="7450574" y="870704"/>
            <a:ext cx="6768584" cy="7602141"/>
          </a:xfrm>
          <a:prstGeom prst="roundRect">
            <a:avLst>
              <a:gd name="adj" fmla="val 1081"/>
            </a:avLst>
          </a:prstGeom>
          <a:solidFill>
            <a:srgbClr val="FFFFFF">
              <a:alpha val="95000"/>
            </a:srgbClr>
          </a:solidFill>
          <a:ln w="15240">
            <a:solidFill>
              <a:srgbClr val="D6BADD"/>
            </a:solidFill>
            <a:prstDash val="solid"/>
          </a:ln>
        </p:spPr>
      </p:sp>
      <p:sp>
        <p:nvSpPr>
          <p:cNvPr id="9" name="Shape 6"/>
          <p:cNvSpPr/>
          <p:nvPr/>
        </p:nvSpPr>
        <p:spPr>
          <a:xfrm>
            <a:off x="7435334" y="870704"/>
            <a:ext cx="60960" cy="7602141"/>
          </a:xfrm>
          <a:prstGeom prst="roundRect">
            <a:avLst>
              <a:gd name="adj" fmla="val 72156"/>
            </a:avLst>
          </a:prstGeom>
          <a:solidFill>
            <a:srgbClr val="BE49DF"/>
          </a:solidFill>
          <a:ln/>
        </p:spPr>
      </p:sp>
      <p:sp>
        <p:nvSpPr>
          <p:cNvPr id="10" name="Text 7"/>
          <p:cNvSpPr/>
          <p:nvPr/>
        </p:nvSpPr>
        <p:spPr>
          <a:xfrm>
            <a:off x="7616190" y="990600"/>
            <a:ext cx="1232059"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PostgreSQL</a:t>
            </a:r>
            <a:endParaRPr lang="en-US" sz="950" dirty="0"/>
          </a:p>
        </p:txBody>
      </p:sp>
      <p:sp>
        <p:nvSpPr>
          <p:cNvPr id="11" name="Text 8"/>
          <p:cNvSpPr/>
          <p:nvPr/>
        </p:nvSpPr>
        <p:spPr>
          <a:xfrm>
            <a:off x="7616190" y="1249204"/>
            <a:ext cx="6483072" cy="50292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PostgreSQL – bu dunyodagi eng ilg‘or va kuchli ochiq manbali obyekt-relyatsion ma’lumotlar bazasi tizimi. U ishonchliligi, xususiyatlarga boyligi va yuqori ishlashi bilan mashhur. PostgreSQL nafaqat oddiy relyatsion ma’lumotlarni, balki murakkab ma’lumot turlarini ham qo‘llab-quvvatlaydi, bu esa uni geoma’lumotlar uchun ideal tanlovga aylantiradi.</a:t>
            </a:r>
            <a:endParaRPr lang="en-US" sz="800" dirty="0"/>
          </a:p>
        </p:txBody>
      </p:sp>
      <p:pic>
        <p:nvPicPr>
          <p:cNvPr id="12" name="Image 1" descr="preencoded.png"/>
          <p:cNvPicPr>
            <a:picLocks noChangeAspect="1"/>
          </p:cNvPicPr>
          <p:nvPr/>
        </p:nvPicPr>
        <p:blipFill>
          <a:blip r:embed="rId4"/>
          <a:stretch>
            <a:fillRect/>
          </a:stretch>
        </p:blipFill>
        <p:spPr>
          <a:xfrm>
            <a:off x="8147328" y="1746528"/>
            <a:ext cx="6483072" cy="6483072"/>
          </a:xfrm>
          <a:prstGeom prst="rect">
            <a:avLst/>
          </a:prstGeom>
        </p:spPr>
      </p:pic>
      <p:sp>
        <p:nvSpPr>
          <p:cNvPr id="13" name="Shape 9"/>
          <p:cNvSpPr/>
          <p:nvPr/>
        </p:nvSpPr>
        <p:spPr>
          <a:xfrm>
            <a:off x="7450574" y="8590598"/>
            <a:ext cx="6768584" cy="7602141"/>
          </a:xfrm>
          <a:prstGeom prst="roundRect">
            <a:avLst>
              <a:gd name="adj" fmla="val 1081"/>
            </a:avLst>
          </a:prstGeom>
          <a:solidFill>
            <a:srgbClr val="FFFFFF">
              <a:alpha val="95000"/>
            </a:srgbClr>
          </a:solidFill>
          <a:ln w="15240">
            <a:solidFill>
              <a:srgbClr val="D6BADD"/>
            </a:solidFill>
            <a:prstDash val="solid"/>
          </a:ln>
        </p:spPr>
      </p:sp>
      <p:sp>
        <p:nvSpPr>
          <p:cNvPr id="14" name="Shape 10"/>
          <p:cNvSpPr/>
          <p:nvPr/>
        </p:nvSpPr>
        <p:spPr>
          <a:xfrm>
            <a:off x="7435334" y="8590598"/>
            <a:ext cx="60960" cy="7602141"/>
          </a:xfrm>
          <a:prstGeom prst="roundRect">
            <a:avLst>
              <a:gd name="adj" fmla="val 72156"/>
            </a:avLst>
          </a:prstGeom>
          <a:solidFill>
            <a:srgbClr val="BE49DF"/>
          </a:solidFill>
          <a:ln/>
        </p:spPr>
      </p:sp>
      <p:sp>
        <p:nvSpPr>
          <p:cNvPr id="15" name="Text 11"/>
          <p:cNvSpPr/>
          <p:nvPr/>
        </p:nvSpPr>
        <p:spPr>
          <a:xfrm>
            <a:off x="7616190" y="8710493"/>
            <a:ext cx="1232059"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PostGIS</a:t>
            </a:r>
            <a:endParaRPr lang="en-US" sz="950" dirty="0"/>
          </a:p>
        </p:txBody>
      </p:sp>
      <p:sp>
        <p:nvSpPr>
          <p:cNvPr id="16" name="Text 12"/>
          <p:cNvSpPr/>
          <p:nvPr/>
        </p:nvSpPr>
        <p:spPr>
          <a:xfrm>
            <a:off x="7616190" y="8969097"/>
            <a:ext cx="6483072" cy="50292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PostGIS – bu PostgreSQL uchun kengaytma bo‘lib, uni spatial ma’lumotlar bazasiga aylantiradi. U standart SQL sintaksisiga spatial ma’lumot turlarini, spatial indekslarni va spatial funksiyalarni qo‘shadi. PostGIS yordamida siz nuqtalar, chiziqlar va poligonlar kabi geografik obyektlarni saqlashingiz, ularga so‘rovlar berishingiz va murakkab spatial tahlillar o‘tkazishingiz mumkin.</a:t>
            </a:r>
            <a:endParaRPr lang="en-US" sz="800" dirty="0"/>
          </a:p>
        </p:txBody>
      </p:sp>
      <p:pic>
        <p:nvPicPr>
          <p:cNvPr id="17" name="Image 2" descr="preencoded.png"/>
          <p:cNvPicPr>
            <a:picLocks noChangeAspect="1"/>
          </p:cNvPicPr>
          <p:nvPr/>
        </p:nvPicPr>
        <p:blipFill>
          <a:blip r:embed="rId5"/>
          <a:stretch>
            <a:fillRect/>
          </a:stretch>
        </p:blipFill>
        <p:spPr>
          <a:xfrm>
            <a:off x="7616190" y="9589770"/>
            <a:ext cx="6483072" cy="64830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0200" y="532924"/>
            <a:ext cx="5355550" cy="478155"/>
          </a:xfrm>
          <a:prstGeom prst="rect">
            <a:avLst/>
          </a:prstGeom>
          <a:noFill/>
          <a:ln/>
        </p:spPr>
        <p:txBody>
          <a:bodyPr wrap="none" lIns="0" tIns="0" rIns="0" bIns="0" rtlCol="0" anchor="t"/>
          <a:lstStyle/>
          <a:p>
            <a:pPr marL="0" indent="0" algn="l">
              <a:lnSpc>
                <a:spcPts val="3750"/>
              </a:lnSpc>
              <a:buNone/>
            </a:pPr>
            <a:r>
              <a:rPr lang="en-US" sz="3000" dirty="0">
                <a:solidFill>
                  <a:srgbClr val="000000"/>
                </a:solidFill>
                <a:latin typeface="Source Serif 4 Semi Bold" pitchFamily="34" charset="0"/>
                <a:ea typeface="Source Serif 4 Semi Bold" pitchFamily="34" charset="-122"/>
                <a:cs typeface="Source Serif 4 Semi Bold" pitchFamily="34" charset="-120"/>
              </a:rPr>
              <a:t>PostGIS Asosiy Imkoniyatlari</a:t>
            </a:r>
            <a:endParaRPr lang="en-US" sz="3000" dirty="0"/>
          </a:p>
        </p:txBody>
      </p:sp>
      <p:sp>
        <p:nvSpPr>
          <p:cNvPr id="3" name="Text 1"/>
          <p:cNvSpPr/>
          <p:nvPr/>
        </p:nvSpPr>
        <p:spPr>
          <a:xfrm>
            <a:off x="650200" y="1336119"/>
            <a:ext cx="13329999" cy="520065"/>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Source Sans 3" pitchFamily="34" charset="0"/>
                <a:ea typeface="Source Sans 3" pitchFamily="34" charset="-122"/>
                <a:cs typeface="Source Sans 3" pitchFamily="34" charset="-120"/>
              </a:rPr>
              <a:t>PostGIS geografik ma’lumotlar bilan ishlash uchun keng qamrovli vositalar to‘plamini taqdim etadi, bu esa uni GIS (Geografik Axborot Tizimlari) dasturlash va ma’lumotlarni tahlil qilishda ajralmas vositaga aylantiradi.</a:t>
            </a:r>
            <a:endParaRPr lang="en-US" sz="1250" dirty="0"/>
          </a:p>
        </p:txBody>
      </p:sp>
      <p:sp>
        <p:nvSpPr>
          <p:cNvPr id="4" name="Text 2"/>
          <p:cNvSpPr/>
          <p:nvPr/>
        </p:nvSpPr>
        <p:spPr>
          <a:xfrm>
            <a:off x="2826068" y="2574131"/>
            <a:ext cx="1912501" cy="238958"/>
          </a:xfrm>
          <a:prstGeom prst="rect">
            <a:avLst/>
          </a:prstGeom>
          <a:noFill/>
          <a:ln/>
        </p:spPr>
        <p:txBody>
          <a:bodyPr wrap="none" lIns="0" tIns="0" rIns="0" bIns="0" rtlCol="0" anchor="t"/>
          <a:lstStyle/>
          <a:p>
            <a:pPr marL="0" indent="0" algn="r">
              <a:lnSpc>
                <a:spcPts val="185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Geometrik Turlar</a:t>
            </a:r>
            <a:endParaRPr lang="en-US" sz="1500" dirty="0"/>
          </a:p>
        </p:txBody>
      </p:sp>
      <p:sp>
        <p:nvSpPr>
          <p:cNvPr id="5" name="Text 3"/>
          <p:cNvSpPr/>
          <p:nvPr/>
        </p:nvSpPr>
        <p:spPr>
          <a:xfrm>
            <a:off x="650200" y="2910602"/>
            <a:ext cx="4088368" cy="1300163"/>
          </a:xfrm>
          <a:prstGeom prst="rect">
            <a:avLst/>
          </a:prstGeom>
          <a:noFill/>
          <a:ln/>
        </p:spPr>
        <p:txBody>
          <a:bodyPr wrap="square" lIns="0" tIns="0" rIns="0" bIns="0" rtlCol="0" anchor="t"/>
          <a:lstStyle/>
          <a:p>
            <a:pPr marL="0" indent="0" algn="r">
              <a:lnSpc>
                <a:spcPts val="2000"/>
              </a:lnSpc>
              <a:buNone/>
            </a:pPr>
            <a:r>
              <a:rPr lang="en-US" sz="1250" dirty="0">
                <a:solidFill>
                  <a:srgbClr val="272525"/>
                </a:solidFill>
                <a:latin typeface="Source Sans 3" pitchFamily="34" charset="0"/>
                <a:ea typeface="Source Sans 3" pitchFamily="34" charset="-122"/>
                <a:cs typeface="Source Sans 3" pitchFamily="34" charset="-120"/>
              </a:rPr>
              <a:t>PostGIS nuqtalar (Point), chiziqlar (LineString), poligonlar (Polygon), shuningdek, ularning ko‘plikdagi variantlari (MultiPoint, MultiLineString, MultiPolygon) kabi keng turdagi geometrik turlarni qo‘llab-quvvatlaydi. Bu har xil turdagi geografik obyektlarni aniq modellashtirish imkonini beradi.</a:t>
            </a:r>
            <a:endParaRPr lang="en-US" sz="1250" dirty="0"/>
          </a:p>
        </p:txBody>
      </p:sp>
      <p:pic>
        <p:nvPicPr>
          <p:cNvPr id="6" name="Image 0" descr="preencoded.png"/>
          <p:cNvPicPr>
            <a:picLocks noChangeAspect="1"/>
          </p:cNvPicPr>
          <p:nvPr/>
        </p:nvPicPr>
        <p:blipFill>
          <a:blip r:embed="rId3"/>
          <a:stretch>
            <a:fillRect/>
          </a:stretch>
        </p:blipFill>
        <p:spPr>
          <a:xfrm>
            <a:off x="4982408" y="2535079"/>
            <a:ext cx="4665464" cy="4665464"/>
          </a:xfrm>
          <a:prstGeom prst="rect">
            <a:avLst/>
          </a:prstGeom>
        </p:spPr>
      </p:pic>
      <p:pic>
        <p:nvPicPr>
          <p:cNvPr id="7" name="Image 1" descr="preencoded.png"/>
          <p:cNvPicPr>
            <a:picLocks noChangeAspect="1"/>
          </p:cNvPicPr>
          <p:nvPr/>
        </p:nvPicPr>
        <p:blipFill>
          <a:blip r:embed="rId4"/>
          <a:stretch>
            <a:fillRect/>
          </a:stretch>
        </p:blipFill>
        <p:spPr>
          <a:xfrm>
            <a:off x="5872460" y="3756005"/>
            <a:ext cx="243126" cy="303967"/>
          </a:xfrm>
          <a:prstGeom prst="rect">
            <a:avLst/>
          </a:prstGeom>
        </p:spPr>
      </p:pic>
      <p:sp>
        <p:nvSpPr>
          <p:cNvPr id="8" name="Text 4"/>
          <p:cNvSpPr/>
          <p:nvPr/>
        </p:nvSpPr>
        <p:spPr>
          <a:xfrm>
            <a:off x="9891712" y="2039064"/>
            <a:ext cx="1967984" cy="238958"/>
          </a:xfrm>
          <a:prstGeom prst="rect">
            <a:avLst/>
          </a:prstGeom>
          <a:noFill/>
          <a:ln/>
        </p:spPr>
        <p:txBody>
          <a:bodyPr wrap="none" lIns="0" tIns="0" rIns="0" bIns="0" rtlCol="0" anchor="t"/>
          <a:lstStyle/>
          <a:p>
            <a:pPr marL="0" indent="0" algn="l">
              <a:lnSpc>
                <a:spcPts val="185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2D va 3D Ma’lumotlar</a:t>
            </a:r>
            <a:endParaRPr lang="en-US" sz="1500" dirty="0"/>
          </a:p>
        </p:txBody>
      </p:sp>
      <p:sp>
        <p:nvSpPr>
          <p:cNvPr id="9" name="Text 5"/>
          <p:cNvSpPr/>
          <p:nvPr/>
        </p:nvSpPr>
        <p:spPr>
          <a:xfrm>
            <a:off x="9891712" y="2375535"/>
            <a:ext cx="4088487" cy="1300163"/>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Source Sans 3" pitchFamily="34" charset="0"/>
                <a:ea typeface="Source Sans 3" pitchFamily="34" charset="-122"/>
                <a:cs typeface="Source Sans 3" pitchFamily="34" charset="-120"/>
              </a:rPr>
              <a:t>Kengaytma nafaqat 2D (x, y koordinatalar), balki 3D (x, y, z koordinatalar) va hattoki 4D (x, y, z, m koordinatalar, bu yerda 'm' o‘lchov qiymati) spatial ma’lumotlarni ham qo‘llab-quvvatlaydi. Bu relyef, balandlik yoki boshqa vertikal o‘lchovlar bilan ishlashda juda foydali.</a:t>
            </a:r>
            <a:endParaRPr lang="en-US" sz="1250" dirty="0"/>
          </a:p>
        </p:txBody>
      </p:sp>
      <p:pic>
        <p:nvPicPr>
          <p:cNvPr id="10" name="Image 2" descr="preencoded.png"/>
          <p:cNvPicPr>
            <a:picLocks noChangeAspect="1"/>
          </p:cNvPicPr>
          <p:nvPr/>
        </p:nvPicPr>
        <p:blipFill>
          <a:blip r:embed="rId5"/>
          <a:stretch>
            <a:fillRect/>
          </a:stretch>
        </p:blipFill>
        <p:spPr>
          <a:xfrm>
            <a:off x="4982408" y="2535079"/>
            <a:ext cx="4665464" cy="4665464"/>
          </a:xfrm>
          <a:prstGeom prst="rect">
            <a:avLst/>
          </a:prstGeom>
        </p:spPr>
      </p:pic>
      <p:pic>
        <p:nvPicPr>
          <p:cNvPr id="11" name="Image 3" descr="preencoded.png"/>
          <p:cNvPicPr>
            <a:picLocks noChangeAspect="1"/>
          </p:cNvPicPr>
          <p:nvPr/>
        </p:nvPicPr>
        <p:blipFill>
          <a:blip r:embed="rId6"/>
          <a:stretch>
            <a:fillRect/>
          </a:stretch>
        </p:blipFill>
        <p:spPr>
          <a:xfrm>
            <a:off x="7698045" y="3162717"/>
            <a:ext cx="243126" cy="303967"/>
          </a:xfrm>
          <a:prstGeom prst="rect">
            <a:avLst/>
          </a:prstGeom>
        </p:spPr>
      </p:pic>
      <p:sp>
        <p:nvSpPr>
          <p:cNvPr id="12" name="Text 6"/>
          <p:cNvSpPr/>
          <p:nvPr/>
        </p:nvSpPr>
        <p:spPr>
          <a:xfrm>
            <a:off x="9972913" y="3919538"/>
            <a:ext cx="1912501" cy="238958"/>
          </a:xfrm>
          <a:prstGeom prst="rect">
            <a:avLst/>
          </a:prstGeom>
          <a:noFill/>
          <a:ln/>
        </p:spPr>
        <p:txBody>
          <a:bodyPr wrap="none" lIns="0" tIns="0" rIns="0" bIns="0" rtlCol="0" anchor="t"/>
          <a:lstStyle/>
          <a:p>
            <a:pPr marL="0" indent="0" algn="l">
              <a:lnSpc>
                <a:spcPts val="185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Spatial Indekslash</a:t>
            </a:r>
            <a:endParaRPr lang="en-US" sz="1500" dirty="0"/>
          </a:p>
        </p:txBody>
      </p:sp>
      <p:sp>
        <p:nvSpPr>
          <p:cNvPr id="13" name="Text 7"/>
          <p:cNvSpPr/>
          <p:nvPr/>
        </p:nvSpPr>
        <p:spPr>
          <a:xfrm>
            <a:off x="9972913" y="4256008"/>
            <a:ext cx="4007287" cy="1560195"/>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Source Sans 3" pitchFamily="34" charset="0"/>
                <a:ea typeface="Source Sans 3" pitchFamily="34" charset="-122"/>
                <a:cs typeface="Source Sans 3" pitchFamily="34" charset="-120"/>
              </a:rPr>
              <a:t>PostGIS GiST (Generalized Search Tree) kabi spatial indekslash mexanizmlaridan foydalanadi. Bu indekslar katta hajmdagi spatial ma’lumotlar to‘plamida tezkor qidiruv va tahlil operatsiyalarini bajarish imkonini beradi, chunki ular ma’lumotlarni geografik joylashuviga ko‘ra samarali tartibga soladi.</a:t>
            </a:r>
            <a:endParaRPr lang="en-US" sz="1250" dirty="0"/>
          </a:p>
        </p:txBody>
      </p:sp>
      <p:pic>
        <p:nvPicPr>
          <p:cNvPr id="14" name="Image 4" descr="preencoded.png"/>
          <p:cNvPicPr>
            <a:picLocks noChangeAspect="1"/>
          </p:cNvPicPr>
          <p:nvPr/>
        </p:nvPicPr>
        <p:blipFill>
          <a:blip r:embed="rId7"/>
          <a:stretch>
            <a:fillRect/>
          </a:stretch>
        </p:blipFill>
        <p:spPr>
          <a:xfrm>
            <a:off x="4982408" y="2535079"/>
            <a:ext cx="4665464" cy="4665464"/>
          </a:xfrm>
          <a:prstGeom prst="rect">
            <a:avLst/>
          </a:prstGeom>
        </p:spPr>
      </p:pic>
      <p:pic>
        <p:nvPicPr>
          <p:cNvPr id="15" name="Image 5" descr="preencoded.png"/>
          <p:cNvPicPr>
            <a:picLocks noChangeAspect="1"/>
          </p:cNvPicPr>
          <p:nvPr/>
        </p:nvPicPr>
        <p:blipFill>
          <a:blip r:embed="rId8"/>
          <a:stretch>
            <a:fillRect/>
          </a:stretch>
        </p:blipFill>
        <p:spPr>
          <a:xfrm>
            <a:off x="8826401" y="4715768"/>
            <a:ext cx="243126" cy="303967"/>
          </a:xfrm>
          <a:prstGeom prst="rect">
            <a:avLst/>
          </a:prstGeom>
        </p:spPr>
      </p:pic>
      <p:sp>
        <p:nvSpPr>
          <p:cNvPr id="16" name="Text 8"/>
          <p:cNvSpPr/>
          <p:nvPr/>
        </p:nvSpPr>
        <p:spPr>
          <a:xfrm>
            <a:off x="9891712" y="6060043"/>
            <a:ext cx="2772966" cy="238958"/>
          </a:xfrm>
          <a:prstGeom prst="rect">
            <a:avLst/>
          </a:prstGeom>
          <a:noFill/>
          <a:ln/>
        </p:spPr>
        <p:txBody>
          <a:bodyPr wrap="none" lIns="0" tIns="0" rIns="0" bIns="0" rtlCol="0" anchor="t"/>
          <a:lstStyle/>
          <a:p>
            <a:pPr marL="0" indent="0" algn="l">
              <a:lnSpc>
                <a:spcPts val="185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Murakkab Spatial Funksiyalar</a:t>
            </a:r>
            <a:endParaRPr lang="en-US" sz="1500" dirty="0"/>
          </a:p>
        </p:txBody>
      </p:sp>
      <p:sp>
        <p:nvSpPr>
          <p:cNvPr id="17" name="Text 9"/>
          <p:cNvSpPr/>
          <p:nvPr/>
        </p:nvSpPr>
        <p:spPr>
          <a:xfrm>
            <a:off x="9891712" y="6396514"/>
            <a:ext cx="4088487" cy="1300163"/>
          </a:xfrm>
          <a:prstGeom prst="rect">
            <a:avLst/>
          </a:prstGeom>
          <a:noFill/>
          <a:ln/>
        </p:spPr>
        <p:txBody>
          <a:bodyPr wrap="square" lIns="0" tIns="0" rIns="0" bIns="0" rtlCol="0" anchor="t"/>
          <a:lstStyle/>
          <a:p>
            <a:pPr marL="0" indent="0" algn="l">
              <a:lnSpc>
                <a:spcPts val="2000"/>
              </a:lnSpc>
              <a:buNone/>
            </a:pPr>
            <a:r>
              <a:rPr lang="en-US" sz="1250" dirty="0">
                <a:solidFill>
                  <a:srgbClr val="272525"/>
                </a:solidFill>
                <a:latin typeface="Source Sans 3" pitchFamily="34" charset="0"/>
                <a:ea typeface="Source Sans 3" pitchFamily="34" charset="-122"/>
                <a:cs typeface="Source Sans 3" pitchFamily="34" charset="-120"/>
              </a:rPr>
              <a:t>Keng qamrovli funksiyalar kutubxonasi mavjud bo‘lib, ular masofani o‘lchash (ST_Distance), obyektlarning kesishishini aniqlash (ST_Intersects), tampon zonalarini yaratish (ST_Buffer), birlashtirish (ST_Union) va boshqa ko‘plab murakkab spatial tahlillarni bajarish imkonini beradi.</a:t>
            </a:r>
            <a:endParaRPr lang="en-US" sz="1250" dirty="0"/>
          </a:p>
        </p:txBody>
      </p:sp>
      <p:pic>
        <p:nvPicPr>
          <p:cNvPr id="18" name="Image 6" descr="preencoded.png"/>
          <p:cNvPicPr>
            <a:picLocks noChangeAspect="1"/>
          </p:cNvPicPr>
          <p:nvPr/>
        </p:nvPicPr>
        <p:blipFill>
          <a:blip r:embed="rId9"/>
          <a:stretch>
            <a:fillRect/>
          </a:stretch>
        </p:blipFill>
        <p:spPr>
          <a:xfrm>
            <a:off x="4982408" y="2535079"/>
            <a:ext cx="4665464" cy="4665464"/>
          </a:xfrm>
          <a:prstGeom prst="rect">
            <a:avLst/>
          </a:prstGeom>
        </p:spPr>
      </p:pic>
      <p:pic>
        <p:nvPicPr>
          <p:cNvPr id="19" name="Image 7" descr="preencoded.png"/>
          <p:cNvPicPr>
            <a:picLocks noChangeAspect="1"/>
          </p:cNvPicPr>
          <p:nvPr/>
        </p:nvPicPr>
        <p:blipFill>
          <a:blip r:embed="rId10"/>
          <a:stretch>
            <a:fillRect/>
          </a:stretch>
        </p:blipFill>
        <p:spPr>
          <a:xfrm>
            <a:off x="7698045" y="6268819"/>
            <a:ext cx="243126" cy="303967"/>
          </a:xfrm>
          <a:prstGeom prst="rect">
            <a:avLst/>
          </a:prstGeom>
        </p:spPr>
      </p:pic>
      <p:sp>
        <p:nvSpPr>
          <p:cNvPr id="20" name="Text 10"/>
          <p:cNvSpPr/>
          <p:nvPr/>
        </p:nvSpPr>
        <p:spPr>
          <a:xfrm>
            <a:off x="1010841" y="5524857"/>
            <a:ext cx="3727728" cy="238958"/>
          </a:xfrm>
          <a:prstGeom prst="rect">
            <a:avLst/>
          </a:prstGeom>
          <a:noFill/>
          <a:ln/>
        </p:spPr>
        <p:txBody>
          <a:bodyPr wrap="none" lIns="0" tIns="0" rIns="0" bIns="0" rtlCol="0" anchor="t"/>
          <a:lstStyle/>
          <a:p>
            <a:pPr marL="0" indent="0" algn="r">
              <a:lnSpc>
                <a:spcPts val="1850"/>
              </a:lnSpc>
              <a:buNone/>
            </a:pPr>
            <a:r>
              <a:rPr lang="en-US" sz="1500" dirty="0">
                <a:solidFill>
                  <a:srgbClr val="272525"/>
                </a:solidFill>
                <a:latin typeface="Source Serif 4 Semi Bold" pitchFamily="34" charset="0"/>
                <a:ea typeface="Source Serif 4 Semi Bold" pitchFamily="34" charset="-122"/>
                <a:cs typeface="Source Serif 4 Semi Bold" pitchFamily="34" charset="-120"/>
              </a:rPr>
              <a:t>Raster Ma’lumotlarni Qo‘llab-quvvatlash</a:t>
            </a:r>
            <a:endParaRPr lang="en-US" sz="1500" dirty="0"/>
          </a:p>
        </p:txBody>
      </p:sp>
      <p:sp>
        <p:nvSpPr>
          <p:cNvPr id="21" name="Text 11"/>
          <p:cNvSpPr/>
          <p:nvPr/>
        </p:nvSpPr>
        <p:spPr>
          <a:xfrm>
            <a:off x="650200" y="5861328"/>
            <a:ext cx="4088368" cy="1300163"/>
          </a:xfrm>
          <a:prstGeom prst="rect">
            <a:avLst/>
          </a:prstGeom>
          <a:noFill/>
          <a:ln/>
        </p:spPr>
        <p:txBody>
          <a:bodyPr wrap="square" lIns="0" tIns="0" rIns="0" bIns="0" rtlCol="0" anchor="t"/>
          <a:lstStyle/>
          <a:p>
            <a:pPr marL="0" indent="0" algn="r">
              <a:lnSpc>
                <a:spcPts val="2000"/>
              </a:lnSpc>
              <a:buNone/>
            </a:pPr>
            <a:r>
              <a:rPr lang="en-US" sz="1250" dirty="0">
                <a:solidFill>
                  <a:srgbClr val="272525"/>
                </a:solidFill>
                <a:latin typeface="Source Sans 3" pitchFamily="34" charset="0"/>
                <a:ea typeface="Source Sans 3" pitchFamily="34" charset="-122"/>
                <a:cs typeface="Source Sans 3" pitchFamily="34" charset="-120"/>
              </a:rPr>
              <a:t>PostGIS nafaqat vektor ma’lumotlar bilan, balki raster ma’lumotlar (masalan, sun’iy yo‘ldosh tasvirlari, balandlik modellari) bilan ham ishlash imkoniyatini beradi. Bu tasvirlarni saqlash, ularga so‘rovlar berish va ularni qayta ishlash uchun maxsus funksiyalarni o‘z ichiga oladi.</a:t>
            </a:r>
            <a:endParaRPr lang="en-US" sz="1250" dirty="0"/>
          </a:p>
        </p:txBody>
      </p:sp>
      <p:pic>
        <p:nvPicPr>
          <p:cNvPr id="22" name="Image 8" descr="preencoded.png"/>
          <p:cNvPicPr>
            <a:picLocks noChangeAspect="1"/>
          </p:cNvPicPr>
          <p:nvPr/>
        </p:nvPicPr>
        <p:blipFill>
          <a:blip r:embed="rId11"/>
          <a:stretch>
            <a:fillRect/>
          </a:stretch>
        </p:blipFill>
        <p:spPr>
          <a:xfrm>
            <a:off x="4982408" y="2535079"/>
            <a:ext cx="4665464" cy="4665464"/>
          </a:xfrm>
          <a:prstGeom prst="rect">
            <a:avLst/>
          </a:prstGeom>
        </p:spPr>
      </p:pic>
      <p:pic>
        <p:nvPicPr>
          <p:cNvPr id="23" name="Image 9" descr="preencoded.png"/>
          <p:cNvPicPr>
            <a:picLocks noChangeAspect="1"/>
          </p:cNvPicPr>
          <p:nvPr/>
        </p:nvPicPr>
        <p:blipFill>
          <a:blip r:embed="rId12"/>
          <a:stretch>
            <a:fillRect/>
          </a:stretch>
        </p:blipFill>
        <p:spPr>
          <a:xfrm>
            <a:off x="5872460" y="5675531"/>
            <a:ext cx="243126" cy="303967"/>
          </a:xfrm>
          <a:prstGeom prst="rect">
            <a:avLst/>
          </a:prstGeom>
        </p:spPr>
      </p:pic>
      <p:sp>
        <p:nvSpPr>
          <p:cNvPr id="24" name="Прямоугольник 23">
            <a:extLst>
              <a:ext uri="{FF2B5EF4-FFF2-40B4-BE49-F238E27FC236}">
                <a16:creationId xmlns:a16="http://schemas.microsoft.com/office/drawing/2014/main" id="{CA5B2024-A57A-3517-B506-0F1DF163AC01}"/>
              </a:ext>
            </a:extLst>
          </p:cNvPr>
          <p:cNvSpPr/>
          <p:nvPr/>
        </p:nvSpPr>
        <p:spPr>
          <a:xfrm>
            <a:off x="12664678" y="7696677"/>
            <a:ext cx="1965722" cy="5038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165" y="491847"/>
            <a:ext cx="7990165" cy="410408"/>
          </a:xfrm>
          <a:prstGeom prst="rect">
            <a:avLst/>
          </a:prstGeom>
          <a:noFill/>
          <a:ln/>
        </p:spPr>
        <p:txBody>
          <a:bodyPr wrap="none" lIns="0" tIns="0" rIns="0" bIns="0" rtlCol="0" anchor="t"/>
          <a:lstStyle/>
          <a:p>
            <a:pPr marL="0" indent="0" algn="l">
              <a:lnSpc>
                <a:spcPts val="3200"/>
              </a:lnSpc>
              <a:buNone/>
            </a:pPr>
            <a:r>
              <a:rPr lang="en-US" sz="2550" dirty="0">
                <a:solidFill>
                  <a:srgbClr val="000000"/>
                </a:solidFill>
                <a:latin typeface="Source Serif 4 Semi Bold" pitchFamily="34" charset="0"/>
                <a:ea typeface="Source Serif 4 Semi Bold" pitchFamily="34" charset="-122"/>
                <a:cs typeface="Source Serif 4 Semi Bold" pitchFamily="34" charset="-120"/>
              </a:rPr>
              <a:t>Ma’lumotlar Bazasini Yaratish va PostGIS ni Yoqish</a:t>
            </a:r>
            <a:endParaRPr lang="en-US" sz="2550" dirty="0"/>
          </a:p>
        </p:txBody>
      </p:sp>
      <p:sp>
        <p:nvSpPr>
          <p:cNvPr id="3" name="Text 1"/>
          <p:cNvSpPr/>
          <p:nvPr/>
        </p:nvSpPr>
        <p:spPr>
          <a:xfrm>
            <a:off x="558165" y="1181338"/>
            <a:ext cx="13514070" cy="223242"/>
          </a:xfrm>
          <a:prstGeom prst="rect">
            <a:avLst/>
          </a:prstGeom>
          <a:noFill/>
          <a:ln/>
        </p:spPr>
        <p:txBody>
          <a:bodyPr wrap="non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PostgreSQL muhitida geoma’lumotlar bilan ish boshlash uchun avvalo yangi ma’lumotlar bazasini yaratish va uning ichida PostGIS kengaytmasini faollashtirish zarur.</a:t>
            </a:r>
            <a:endParaRPr lang="en-US" sz="1050" dirty="0"/>
          </a:p>
        </p:txBody>
      </p:sp>
      <p:sp>
        <p:nvSpPr>
          <p:cNvPr id="4" name="Shape 2"/>
          <p:cNvSpPr/>
          <p:nvPr/>
        </p:nvSpPr>
        <p:spPr>
          <a:xfrm>
            <a:off x="558165" y="1718429"/>
            <a:ext cx="6586895" cy="2349937"/>
          </a:xfrm>
          <a:prstGeom prst="roundRect">
            <a:avLst>
              <a:gd name="adj" fmla="val 2494"/>
            </a:avLst>
          </a:prstGeom>
          <a:solidFill>
            <a:srgbClr val="F0D4F7"/>
          </a:solidFill>
          <a:ln w="7620">
            <a:solidFill>
              <a:srgbClr val="D6BADD"/>
            </a:solidFill>
            <a:prstDash val="solid"/>
          </a:ln>
        </p:spPr>
      </p:sp>
      <p:sp>
        <p:nvSpPr>
          <p:cNvPr id="5" name="Text 3"/>
          <p:cNvSpPr/>
          <p:nvPr/>
        </p:nvSpPr>
        <p:spPr>
          <a:xfrm>
            <a:off x="705326" y="1865590"/>
            <a:ext cx="3034308" cy="246221"/>
          </a:xfrm>
          <a:prstGeom prst="rect">
            <a:avLst/>
          </a:prstGeom>
          <a:noFill/>
          <a:ln/>
        </p:spPr>
        <p:txBody>
          <a:bodyPr wrap="none" lIns="0" tIns="0" rIns="0" bIns="0" rtlCol="0" anchor="t"/>
          <a:lstStyle/>
          <a:p>
            <a:pPr marL="0" indent="0" algn="l">
              <a:lnSpc>
                <a:spcPts val="1900"/>
              </a:lnSpc>
              <a:buNone/>
            </a:pPr>
            <a:r>
              <a:rPr lang="en-US" sz="1550" dirty="0">
                <a:solidFill>
                  <a:srgbClr val="272525"/>
                </a:solidFill>
                <a:latin typeface="Source Serif 4 Semi Bold" pitchFamily="34" charset="0"/>
                <a:ea typeface="Source Serif 4 Semi Bold" pitchFamily="34" charset="-122"/>
                <a:cs typeface="Source Serif 4 Semi Bold" pitchFamily="34" charset="-120"/>
              </a:rPr>
              <a:t>1. PostgreSQL Serveriga Ulanish</a:t>
            </a:r>
            <a:endParaRPr lang="en-US" sz="1550" dirty="0"/>
          </a:p>
        </p:txBody>
      </p:sp>
      <p:sp>
        <p:nvSpPr>
          <p:cNvPr id="6" name="Text 4"/>
          <p:cNvSpPr/>
          <p:nvPr/>
        </p:nvSpPr>
        <p:spPr>
          <a:xfrm>
            <a:off x="705326" y="2251353"/>
            <a:ext cx="6292572" cy="46172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Birinchi qadam – sizning PostgreSQL serveringizga ulanish. Buning uchun </a:t>
            </a:r>
            <a:r>
              <a:rPr lang="en-US" sz="1050" dirty="0">
                <a:solidFill>
                  <a:srgbClr val="272525"/>
                </a:solidFill>
                <a:highlight>
                  <a:srgbClr val="F2F2F2"/>
                </a:highlight>
                <a:latin typeface="Consolas" pitchFamily="34" charset="0"/>
                <a:ea typeface="Consolas" pitchFamily="34" charset="-122"/>
                <a:cs typeface="Consolas" pitchFamily="34" charset="-120"/>
              </a:rPr>
              <a:t>psql</a:t>
            </a:r>
            <a:r>
              <a:rPr lang="en-US" sz="1050" dirty="0">
                <a:solidFill>
                  <a:srgbClr val="272525"/>
                </a:solidFill>
                <a:latin typeface="Source Sans 3" pitchFamily="34" charset="0"/>
                <a:ea typeface="Source Sans 3" pitchFamily="34" charset="-122"/>
                <a:cs typeface="Source Sans 3" pitchFamily="34" charset="-120"/>
              </a:rPr>
              <a:t> buyruq satri vositasidan yoki DBeaver, pgAdmin kabi grafik interfeysli mijozdan foydalanishingiz mumkin.</a:t>
            </a:r>
            <a:endParaRPr lang="en-US" sz="1050" dirty="0"/>
          </a:p>
        </p:txBody>
      </p:sp>
      <p:sp>
        <p:nvSpPr>
          <p:cNvPr id="7" name="Shape 5"/>
          <p:cNvSpPr/>
          <p:nvPr/>
        </p:nvSpPr>
        <p:spPr>
          <a:xfrm>
            <a:off x="705326" y="2870002"/>
            <a:ext cx="6292572" cy="655796"/>
          </a:xfrm>
          <a:prstGeom prst="roundRect">
            <a:avLst>
              <a:gd name="adj" fmla="val 8937"/>
            </a:avLst>
          </a:prstGeom>
          <a:solidFill>
            <a:srgbClr val="F2F2F2"/>
          </a:solidFill>
          <a:ln/>
        </p:spPr>
      </p:sp>
      <p:sp>
        <p:nvSpPr>
          <p:cNvPr id="8" name="Shape 6"/>
          <p:cNvSpPr/>
          <p:nvPr/>
        </p:nvSpPr>
        <p:spPr>
          <a:xfrm>
            <a:off x="698421" y="2870002"/>
            <a:ext cx="6306383" cy="655796"/>
          </a:xfrm>
          <a:prstGeom prst="roundRect">
            <a:avLst>
              <a:gd name="adj" fmla="val 3192"/>
            </a:avLst>
          </a:prstGeom>
          <a:solidFill>
            <a:srgbClr val="F2F2F2"/>
          </a:solidFill>
          <a:ln/>
        </p:spPr>
      </p:sp>
      <p:sp>
        <p:nvSpPr>
          <p:cNvPr id="9" name="Text 7"/>
          <p:cNvSpPr/>
          <p:nvPr/>
        </p:nvSpPr>
        <p:spPr>
          <a:xfrm>
            <a:off x="837962" y="2974658"/>
            <a:ext cx="6027301" cy="44648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psql -U username -h localhost</a:t>
            </a:r>
            <a:endParaRPr lang="en-US" sz="1050" dirty="0"/>
          </a:p>
        </p:txBody>
      </p:sp>
      <p:sp>
        <p:nvSpPr>
          <p:cNvPr id="10" name="Text 8"/>
          <p:cNvSpPr/>
          <p:nvPr/>
        </p:nvSpPr>
        <p:spPr>
          <a:xfrm>
            <a:off x="705326" y="3682722"/>
            <a:ext cx="6292572" cy="238482"/>
          </a:xfrm>
          <a:prstGeom prst="rect">
            <a:avLst/>
          </a:prstGeom>
          <a:noFill/>
          <a:ln/>
        </p:spPr>
        <p:txBody>
          <a:bodyPr wrap="non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Bu yerda </a:t>
            </a:r>
            <a:r>
              <a:rPr lang="en-US" sz="1050" dirty="0">
                <a:solidFill>
                  <a:srgbClr val="272525"/>
                </a:solidFill>
                <a:highlight>
                  <a:srgbClr val="F2F2F2"/>
                </a:highlight>
                <a:latin typeface="Consolas" pitchFamily="34" charset="0"/>
                <a:ea typeface="Consolas" pitchFamily="34" charset="-122"/>
                <a:cs typeface="Consolas" pitchFamily="34" charset="-120"/>
              </a:rPr>
              <a:t>username</a:t>
            </a:r>
            <a:r>
              <a:rPr lang="en-US" sz="1050" dirty="0">
                <a:solidFill>
                  <a:srgbClr val="272525"/>
                </a:solidFill>
                <a:latin typeface="Source Sans 3" pitchFamily="34" charset="0"/>
                <a:ea typeface="Source Sans 3" pitchFamily="34" charset="-122"/>
                <a:cs typeface="Source Sans 3" pitchFamily="34" charset="-120"/>
              </a:rPr>
              <a:t> sizning PostgreSQL foydalanuvchi nomingiz.</a:t>
            </a:r>
            <a:endParaRPr lang="en-US" sz="1050" dirty="0"/>
          </a:p>
        </p:txBody>
      </p:sp>
      <p:sp>
        <p:nvSpPr>
          <p:cNvPr id="11" name="Shape 9"/>
          <p:cNvSpPr/>
          <p:nvPr/>
        </p:nvSpPr>
        <p:spPr>
          <a:xfrm>
            <a:off x="558165" y="4225290"/>
            <a:ext cx="6586895" cy="1954530"/>
          </a:xfrm>
          <a:prstGeom prst="roundRect">
            <a:avLst>
              <a:gd name="adj" fmla="val 2999"/>
            </a:avLst>
          </a:prstGeom>
          <a:solidFill>
            <a:srgbClr val="F0D4F7"/>
          </a:solidFill>
          <a:ln w="7620">
            <a:solidFill>
              <a:srgbClr val="D6BADD"/>
            </a:solidFill>
            <a:prstDash val="solid"/>
          </a:ln>
        </p:spPr>
      </p:sp>
      <p:sp>
        <p:nvSpPr>
          <p:cNvPr id="12" name="Text 10"/>
          <p:cNvSpPr/>
          <p:nvPr/>
        </p:nvSpPr>
        <p:spPr>
          <a:xfrm>
            <a:off x="705326" y="4372451"/>
            <a:ext cx="3622000" cy="246221"/>
          </a:xfrm>
          <a:prstGeom prst="rect">
            <a:avLst/>
          </a:prstGeom>
          <a:noFill/>
          <a:ln/>
        </p:spPr>
        <p:txBody>
          <a:bodyPr wrap="none" lIns="0" tIns="0" rIns="0" bIns="0" rtlCol="0" anchor="t"/>
          <a:lstStyle/>
          <a:p>
            <a:pPr marL="0" indent="0" algn="l">
              <a:lnSpc>
                <a:spcPts val="1900"/>
              </a:lnSpc>
              <a:buNone/>
            </a:pPr>
            <a:r>
              <a:rPr lang="en-US" sz="1550" dirty="0">
                <a:solidFill>
                  <a:srgbClr val="272525"/>
                </a:solidFill>
                <a:latin typeface="Source Serif 4 Semi Bold" pitchFamily="34" charset="0"/>
                <a:ea typeface="Source Serif 4 Semi Bold" pitchFamily="34" charset="-122"/>
                <a:cs typeface="Source Serif 4 Semi Bold" pitchFamily="34" charset="-120"/>
              </a:rPr>
              <a:t>2. Yangi Ma’lumotlar Bazasini Yaratish</a:t>
            </a:r>
            <a:endParaRPr lang="en-US" sz="1550" dirty="0"/>
          </a:p>
        </p:txBody>
      </p:sp>
      <p:sp>
        <p:nvSpPr>
          <p:cNvPr id="13" name="Text 11"/>
          <p:cNvSpPr/>
          <p:nvPr/>
        </p:nvSpPr>
        <p:spPr>
          <a:xfrm>
            <a:off x="705326" y="4758214"/>
            <a:ext cx="6292572" cy="46172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PostgreSQL serveriga ulanganingizdan so‘ng, geoma’lumotlaringizni saqlash uchun yangi ma’lumotlar bazasini yaratishingiz kerak. O‘zingizga mos keladigan nomni tanlang, masalan, </a:t>
            </a:r>
            <a:r>
              <a:rPr lang="en-US" sz="1050" dirty="0">
                <a:solidFill>
                  <a:srgbClr val="272525"/>
                </a:solidFill>
                <a:highlight>
                  <a:srgbClr val="F2F2F2"/>
                </a:highlight>
                <a:latin typeface="Consolas" pitchFamily="34" charset="0"/>
                <a:ea typeface="Consolas" pitchFamily="34" charset="-122"/>
                <a:cs typeface="Consolas" pitchFamily="34" charset="-120"/>
              </a:rPr>
              <a:t>geodb</a:t>
            </a:r>
            <a:r>
              <a:rPr lang="en-US" sz="1050" dirty="0">
                <a:solidFill>
                  <a:srgbClr val="272525"/>
                </a:solidFill>
                <a:latin typeface="Source Sans 3" pitchFamily="34" charset="0"/>
                <a:ea typeface="Source Sans 3" pitchFamily="34" charset="-122"/>
                <a:cs typeface="Source Sans 3" pitchFamily="34" charset="-120"/>
              </a:rPr>
              <a:t>.</a:t>
            </a:r>
            <a:endParaRPr lang="en-US" sz="1050" dirty="0"/>
          </a:p>
        </p:txBody>
      </p:sp>
      <p:sp>
        <p:nvSpPr>
          <p:cNvPr id="14" name="Shape 12"/>
          <p:cNvSpPr/>
          <p:nvPr/>
        </p:nvSpPr>
        <p:spPr>
          <a:xfrm>
            <a:off x="705326" y="5376863"/>
            <a:ext cx="6292572" cy="655796"/>
          </a:xfrm>
          <a:prstGeom prst="roundRect">
            <a:avLst>
              <a:gd name="adj" fmla="val 8937"/>
            </a:avLst>
          </a:prstGeom>
          <a:solidFill>
            <a:srgbClr val="F2F2F2"/>
          </a:solidFill>
          <a:ln/>
        </p:spPr>
      </p:sp>
      <p:sp>
        <p:nvSpPr>
          <p:cNvPr id="15" name="Shape 13"/>
          <p:cNvSpPr/>
          <p:nvPr/>
        </p:nvSpPr>
        <p:spPr>
          <a:xfrm>
            <a:off x="698421" y="5376863"/>
            <a:ext cx="6306383" cy="655796"/>
          </a:xfrm>
          <a:prstGeom prst="roundRect">
            <a:avLst>
              <a:gd name="adj" fmla="val 3192"/>
            </a:avLst>
          </a:prstGeom>
          <a:solidFill>
            <a:srgbClr val="F2F2F2"/>
          </a:solidFill>
          <a:ln/>
        </p:spPr>
      </p:sp>
      <p:sp>
        <p:nvSpPr>
          <p:cNvPr id="16" name="Text 14"/>
          <p:cNvSpPr/>
          <p:nvPr/>
        </p:nvSpPr>
        <p:spPr>
          <a:xfrm>
            <a:off x="837962" y="5481518"/>
            <a:ext cx="6027301" cy="44648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CREATE DATABASE geodb;</a:t>
            </a:r>
            <a:endParaRPr lang="en-US" sz="1050" dirty="0"/>
          </a:p>
        </p:txBody>
      </p:sp>
      <p:sp>
        <p:nvSpPr>
          <p:cNvPr id="17" name="Shape 15"/>
          <p:cNvSpPr/>
          <p:nvPr/>
        </p:nvSpPr>
        <p:spPr>
          <a:xfrm>
            <a:off x="7492960" y="1718429"/>
            <a:ext cx="6586895" cy="2334697"/>
          </a:xfrm>
          <a:prstGeom prst="roundRect">
            <a:avLst>
              <a:gd name="adj" fmla="val 2510"/>
            </a:avLst>
          </a:prstGeom>
          <a:solidFill>
            <a:srgbClr val="F0D4F7"/>
          </a:solidFill>
          <a:ln w="7620">
            <a:solidFill>
              <a:srgbClr val="D6BADD"/>
            </a:solidFill>
            <a:prstDash val="solid"/>
          </a:ln>
        </p:spPr>
      </p:sp>
      <p:sp>
        <p:nvSpPr>
          <p:cNvPr id="18" name="Text 16"/>
          <p:cNvSpPr/>
          <p:nvPr/>
        </p:nvSpPr>
        <p:spPr>
          <a:xfrm>
            <a:off x="7640122" y="1865590"/>
            <a:ext cx="2232065" cy="246221"/>
          </a:xfrm>
          <a:prstGeom prst="rect">
            <a:avLst/>
          </a:prstGeom>
          <a:noFill/>
          <a:ln/>
        </p:spPr>
        <p:txBody>
          <a:bodyPr wrap="none" lIns="0" tIns="0" rIns="0" bIns="0" rtlCol="0" anchor="t"/>
          <a:lstStyle/>
          <a:p>
            <a:pPr marL="0" indent="0" algn="l">
              <a:lnSpc>
                <a:spcPts val="1900"/>
              </a:lnSpc>
              <a:buNone/>
            </a:pPr>
            <a:r>
              <a:rPr lang="en-US" sz="1550" dirty="0">
                <a:solidFill>
                  <a:srgbClr val="272525"/>
                </a:solidFill>
                <a:latin typeface="Source Serif 4 Semi Bold" pitchFamily="34" charset="0"/>
                <a:ea typeface="Source Serif 4 Semi Bold" pitchFamily="34" charset="-122"/>
                <a:cs typeface="Source Serif 4 Semi Bold" pitchFamily="34" charset="-120"/>
              </a:rPr>
              <a:t>3. Yangi Bazaga Ulanish</a:t>
            </a:r>
            <a:endParaRPr lang="en-US" sz="1550" dirty="0"/>
          </a:p>
        </p:txBody>
      </p:sp>
      <p:sp>
        <p:nvSpPr>
          <p:cNvPr id="19" name="Text 17"/>
          <p:cNvSpPr/>
          <p:nvPr/>
        </p:nvSpPr>
        <p:spPr>
          <a:xfrm>
            <a:off x="7640122" y="2251353"/>
            <a:ext cx="6292572" cy="44648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Ma’lumotlar bazasi yaratilgandan so‘ng, unda PostGIS kengaytmasini faollashtirish uchun yangi yaratilgan bazaga ulanishingiz lozim.</a:t>
            </a:r>
            <a:endParaRPr lang="en-US" sz="1050" dirty="0"/>
          </a:p>
        </p:txBody>
      </p:sp>
      <p:sp>
        <p:nvSpPr>
          <p:cNvPr id="20" name="Shape 18"/>
          <p:cNvSpPr/>
          <p:nvPr/>
        </p:nvSpPr>
        <p:spPr>
          <a:xfrm>
            <a:off x="7640122" y="2854762"/>
            <a:ext cx="6292572" cy="655796"/>
          </a:xfrm>
          <a:prstGeom prst="roundRect">
            <a:avLst>
              <a:gd name="adj" fmla="val 8937"/>
            </a:avLst>
          </a:prstGeom>
          <a:solidFill>
            <a:srgbClr val="F2F2F2"/>
          </a:solidFill>
          <a:ln/>
        </p:spPr>
      </p:sp>
      <p:sp>
        <p:nvSpPr>
          <p:cNvPr id="21" name="Shape 19"/>
          <p:cNvSpPr/>
          <p:nvPr/>
        </p:nvSpPr>
        <p:spPr>
          <a:xfrm>
            <a:off x="7633216" y="2854762"/>
            <a:ext cx="6306383" cy="655796"/>
          </a:xfrm>
          <a:prstGeom prst="roundRect">
            <a:avLst>
              <a:gd name="adj" fmla="val 3192"/>
            </a:avLst>
          </a:prstGeom>
          <a:solidFill>
            <a:srgbClr val="F2F2F2"/>
          </a:solidFill>
          <a:ln/>
        </p:spPr>
      </p:sp>
      <p:sp>
        <p:nvSpPr>
          <p:cNvPr id="22" name="Text 20"/>
          <p:cNvSpPr/>
          <p:nvPr/>
        </p:nvSpPr>
        <p:spPr>
          <a:xfrm>
            <a:off x="7772757" y="2959417"/>
            <a:ext cx="6027301" cy="44648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\c geodb</a:t>
            </a:r>
            <a:endParaRPr lang="en-US" sz="1050" dirty="0"/>
          </a:p>
        </p:txBody>
      </p:sp>
      <p:sp>
        <p:nvSpPr>
          <p:cNvPr id="23" name="Text 21"/>
          <p:cNvSpPr/>
          <p:nvPr/>
        </p:nvSpPr>
        <p:spPr>
          <a:xfrm>
            <a:off x="7640122" y="3667482"/>
            <a:ext cx="6292572" cy="238482"/>
          </a:xfrm>
          <a:prstGeom prst="rect">
            <a:avLst/>
          </a:prstGeom>
          <a:noFill/>
          <a:ln/>
        </p:spPr>
        <p:txBody>
          <a:bodyPr wrap="non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Endi siz </a:t>
            </a:r>
            <a:r>
              <a:rPr lang="en-US" sz="1050" dirty="0">
                <a:solidFill>
                  <a:srgbClr val="272525"/>
                </a:solidFill>
                <a:highlight>
                  <a:srgbClr val="F2F2F2"/>
                </a:highlight>
                <a:latin typeface="Consolas" pitchFamily="34" charset="0"/>
                <a:ea typeface="Consolas" pitchFamily="34" charset="-122"/>
                <a:cs typeface="Consolas" pitchFamily="34" charset="-120"/>
              </a:rPr>
              <a:t>geodb</a:t>
            </a:r>
            <a:r>
              <a:rPr lang="en-US" sz="1050" dirty="0">
                <a:solidFill>
                  <a:srgbClr val="272525"/>
                </a:solidFill>
                <a:latin typeface="Source Sans 3" pitchFamily="34" charset="0"/>
                <a:ea typeface="Source Sans 3" pitchFamily="34" charset="-122"/>
                <a:cs typeface="Source Sans 3" pitchFamily="34" charset="-120"/>
              </a:rPr>
              <a:t> ma’lumotlar bazasi ichidasiz.</a:t>
            </a:r>
            <a:endParaRPr lang="en-US" sz="1050" dirty="0"/>
          </a:p>
        </p:txBody>
      </p:sp>
      <p:sp>
        <p:nvSpPr>
          <p:cNvPr id="24" name="Shape 22"/>
          <p:cNvSpPr/>
          <p:nvPr/>
        </p:nvSpPr>
        <p:spPr>
          <a:xfrm>
            <a:off x="7492960" y="4210050"/>
            <a:ext cx="6586895" cy="3370659"/>
          </a:xfrm>
          <a:prstGeom prst="roundRect">
            <a:avLst>
              <a:gd name="adj" fmla="val 1739"/>
            </a:avLst>
          </a:prstGeom>
          <a:solidFill>
            <a:srgbClr val="F0D4F7"/>
          </a:solidFill>
          <a:ln w="7620">
            <a:solidFill>
              <a:srgbClr val="D6BADD"/>
            </a:solidFill>
            <a:prstDash val="solid"/>
          </a:ln>
        </p:spPr>
      </p:sp>
      <p:sp>
        <p:nvSpPr>
          <p:cNvPr id="25" name="Text 23"/>
          <p:cNvSpPr/>
          <p:nvPr/>
        </p:nvSpPr>
        <p:spPr>
          <a:xfrm>
            <a:off x="7640122" y="4357211"/>
            <a:ext cx="3097173" cy="246221"/>
          </a:xfrm>
          <a:prstGeom prst="rect">
            <a:avLst/>
          </a:prstGeom>
          <a:noFill/>
          <a:ln/>
        </p:spPr>
        <p:txBody>
          <a:bodyPr wrap="none" lIns="0" tIns="0" rIns="0" bIns="0" rtlCol="0" anchor="t"/>
          <a:lstStyle/>
          <a:p>
            <a:pPr marL="0" indent="0" algn="l">
              <a:lnSpc>
                <a:spcPts val="1900"/>
              </a:lnSpc>
              <a:buNone/>
            </a:pPr>
            <a:r>
              <a:rPr lang="en-US" sz="1550" dirty="0">
                <a:solidFill>
                  <a:srgbClr val="272525"/>
                </a:solidFill>
                <a:latin typeface="Source Serif 4 Semi Bold" pitchFamily="34" charset="0"/>
                <a:ea typeface="Source Serif 4 Semi Bold" pitchFamily="34" charset="-122"/>
                <a:cs typeface="Source Serif 4 Semi Bold" pitchFamily="34" charset="-120"/>
              </a:rPr>
              <a:t>4. PostGIS Kengaytmasini Yoqish</a:t>
            </a:r>
            <a:endParaRPr lang="en-US" sz="1550" dirty="0"/>
          </a:p>
        </p:txBody>
      </p:sp>
      <p:sp>
        <p:nvSpPr>
          <p:cNvPr id="26" name="Text 24"/>
          <p:cNvSpPr/>
          <p:nvPr/>
        </p:nvSpPr>
        <p:spPr>
          <a:xfrm>
            <a:off x="7640122" y="4742974"/>
            <a:ext cx="6292572" cy="44648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Nihoyat, PostGIS kengaytmasini faollashtirish uchun quyidagi buyruqni bajaring. Bu buyruq barcha kerakli spatial ma’lumot turlarini, funksiyalarini va indekslash mexanizmlarini bazaga qo‘shadi.</a:t>
            </a:r>
            <a:endParaRPr lang="en-US" sz="1050" dirty="0"/>
          </a:p>
        </p:txBody>
      </p:sp>
      <p:sp>
        <p:nvSpPr>
          <p:cNvPr id="27" name="Shape 25"/>
          <p:cNvSpPr/>
          <p:nvPr/>
        </p:nvSpPr>
        <p:spPr>
          <a:xfrm>
            <a:off x="7640122" y="5346383"/>
            <a:ext cx="6292572" cy="655796"/>
          </a:xfrm>
          <a:prstGeom prst="roundRect">
            <a:avLst>
              <a:gd name="adj" fmla="val 8937"/>
            </a:avLst>
          </a:prstGeom>
          <a:solidFill>
            <a:srgbClr val="F2F2F2"/>
          </a:solidFill>
          <a:ln/>
        </p:spPr>
      </p:sp>
      <p:sp>
        <p:nvSpPr>
          <p:cNvPr id="28" name="Shape 26"/>
          <p:cNvSpPr/>
          <p:nvPr/>
        </p:nvSpPr>
        <p:spPr>
          <a:xfrm>
            <a:off x="7633216" y="5346383"/>
            <a:ext cx="6306383" cy="655796"/>
          </a:xfrm>
          <a:prstGeom prst="roundRect">
            <a:avLst>
              <a:gd name="adj" fmla="val 3192"/>
            </a:avLst>
          </a:prstGeom>
          <a:solidFill>
            <a:srgbClr val="F2F2F2"/>
          </a:solidFill>
          <a:ln/>
        </p:spPr>
      </p:sp>
      <p:sp>
        <p:nvSpPr>
          <p:cNvPr id="29" name="Text 27"/>
          <p:cNvSpPr/>
          <p:nvPr/>
        </p:nvSpPr>
        <p:spPr>
          <a:xfrm>
            <a:off x="7772757" y="5451038"/>
            <a:ext cx="6027301" cy="44648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CREATE EXTENSION postgis;</a:t>
            </a:r>
            <a:endParaRPr lang="en-US" sz="1050" dirty="0"/>
          </a:p>
        </p:txBody>
      </p:sp>
      <p:sp>
        <p:nvSpPr>
          <p:cNvPr id="30" name="Text 28"/>
          <p:cNvSpPr/>
          <p:nvPr/>
        </p:nvSpPr>
        <p:spPr>
          <a:xfrm>
            <a:off x="7640122" y="6159103"/>
            <a:ext cx="6292572" cy="46172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latin typeface="Source Sans 3" pitchFamily="34" charset="0"/>
                <a:ea typeface="Source Sans 3" pitchFamily="34" charset="-122"/>
                <a:cs typeface="Source Sans 3" pitchFamily="34" charset="-120"/>
              </a:rPr>
              <a:t>Agar sizda raster ma’lumotlar bilan ishlashga ehtiyoj bo‘lsa, qo‘shimcha ravishda </a:t>
            </a:r>
            <a:r>
              <a:rPr lang="en-US" sz="1050" dirty="0">
                <a:solidFill>
                  <a:srgbClr val="272525"/>
                </a:solidFill>
                <a:highlight>
                  <a:srgbClr val="F2F2F2"/>
                </a:highlight>
                <a:latin typeface="Consolas" pitchFamily="34" charset="0"/>
                <a:ea typeface="Consolas" pitchFamily="34" charset="-122"/>
                <a:cs typeface="Consolas" pitchFamily="34" charset="-120"/>
              </a:rPr>
              <a:t>postgis_raster</a:t>
            </a:r>
            <a:r>
              <a:rPr lang="en-US" sz="1050" dirty="0">
                <a:solidFill>
                  <a:srgbClr val="272525"/>
                </a:solidFill>
                <a:latin typeface="Source Sans 3" pitchFamily="34" charset="0"/>
                <a:ea typeface="Source Sans 3" pitchFamily="34" charset="-122"/>
                <a:cs typeface="Source Sans 3" pitchFamily="34" charset="-120"/>
              </a:rPr>
              <a:t> kengaytmasini ham yoqishingiz mumkin.</a:t>
            </a:r>
            <a:endParaRPr lang="en-US" sz="1050" dirty="0"/>
          </a:p>
        </p:txBody>
      </p:sp>
      <p:sp>
        <p:nvSpPr>
          <p:cNvPr id="31" name="Shape 29"/>
          <p:cNvSpPr/>
          <p:nvPr/>
        </p:nvSpPr>
        <p:spPr>
          <a:xfrm>
            <a:off x="7640122" y="6777752"/>
            <a:ext cx="6292572" cy="655796"/>
          </a:xfrm>
          <a:prstGeom prst="roundRect">
            <a:avLst>
              <a:gd name="adj" fmla="val 8937"/>
            </a:avLst>
          </a:prstGeom>
          <a:solidFill>
            <a:srgbClr val="F2F2F2"/>
          </a:solidFill>
          <a:ln/>
        </p:spPr>
      </p:sp>
      <p:sp>
        <p:nvSpPr>
          <p:cNvPr id="32" name="Shape 30"/>
          <p:cNvSpPr/>
          <p:nvPr/>
        </p:nvSpPr>
        <p:spPr>
          <a:xfrm>
            <a:off x="7633216" y="6777752"/>
            <a:ext cx="6306383" cy="655796"/>
          </a:xfrm>
          <a:prstGeom prst="roundRect">
            <a:avLst>
              <a:gd name="adj" fmla="val 3192"/>
            </a:avLst>
          </a:prstGeom>
          <a:solidFill>
            <a:srgbClr val="F2F2F2"/>
          </a:solidFill>
          <a:ln/>
        </p:spPr>
      </p:sp>
      <p:sp>
        <p:nvSpPr>
          <p:cNvPr id="33" name="Text 31"/>
          <p:cNvSpPr/>
          <p:nvPr/>
        </p:nvSpPr>
        <p:spPr>
          <a:xfrm>
            <a:off x="7772757" y="6882408"/>
            <a:ext cx="6027301" cy="446484"/>
          </a:xfrm>
          <a:prstGeom prst="rect">
            <a:avLst/>
          </a:prstGeom>
          <a:noFill/>
          <a:ln/>
        </p:spPr>
        <p:txBody>
          <a:bodyPr wrap="square" lIns="0" tIns="0" rIns="0" bIns="0" rtlCol="0" anchor="t"/>
          <a:lstStyle/>
          <a:p>
            <a:pPr marL="0" indent="0" algn="l">
              <a:lnSpc>
                <a:spcPts val="17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CREATE EXTENSION postgis_raster;</a:t>
            </a:r>
            <a:endParaRPr lang="en-US" sz="1050" dirty="0"/>
          </a:p>
        </p:txBody>
      </p:sp>
      <p:sp>
        <p:nvSpPr>
          <p:cNvPr id="34" name="Прямоугольник 33">
            <a:extLst>
              <a:ext uri="{FF2B5EF4-FFF2-40B4-BE49-F238E27FC236}">
                <a16:creationId xmlns:a16="http://schemas.microsoft.com/office/drawing/2014/main" id="{943370E1-2CEC-CC7B-F58E-BBF94D97359D}"/>
              </a:ext>
            </a:extLst>
          </p:cNvPr>
          <p:cNvSpPr/>
          <p:nvPr/>
        </p:nvSpPr>
        <p:spPr>
          <a:xfrm>
            <a:off x="12664678" y="7696677"/>
            <a:ext cx="1965722" cy="5038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9695" y="465892"/>
            <a:ext cx="4551878" cy="308610"/>
          </a:xfrm>
          <a:prstGeom prst="rect">
            <a:avLst/>
          </a:prstGeom>
          <a:noFill/>
          <a:ln/>
        </p:spPr>
        <p:txBody>
          <a:bodyPr wrap="none" lIns="0" tIns="0" rIns="0" bIns="0" rtlCol="0" anchor="t"/>
          <a:lstStyle/>
          <a:p>
            <a:pPr marL="0" indent="0" algn="l">
              <a:lnSpc>
                <a:spcPts val="2400"/>
              </a:lnSpc>
              <a:buNone/>
            </a:pPr>
            <a:r>
              <a:rPr lang="en-US" sz="1900" dirty="0">
                <a:solidFill>
                  <a:srgbClr val="000000"/>
                </a:solidFill>
                <a:latin typeface="Source Serif 4 Semi Bold" pitchFamily="34" charset="0"/>
                <a:ea typeface="Source Serif 4 Semi Bold" pitchFamily="34" charset="-122"/>
                <a:cs typeface="Source Serif 4 Semi Bold" pitchFamily="34" charset="-120"/>
              </a:rPr>
              <a:t>Jadvallar Yaratish va Ularni Tahrirlash</a:t>
            </a:r>
            <a:endParaRPr lang="en-US" sz="1900" dirty="0"/>
          </a:p>
        </p:txBody>
      </p:sp>
      <p:sp>
        <p:nvSpPr>
          <p:cNvPr id="3" name="Text 1"/>
          <p:cNvSpPr/>
          <p:nvPr/>
        </p:nvSpPr>
        <p:spPr>
          <a:xfrm>
            <a:off x="419695" y="984290"/>
            <a:ext cx="13791009" cy="167759"/>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PostGIS yoqilgandan so‘ng, siz spatial ma’lumotlarni saqlash uchun jadvallar yaratishingiz va ularni tahrirlashingiz mumkin. Bu sizga geografik obyektlarni aniq joylashtirish va boshqarish imkoniyatini beradi.</a:t>
            </a:r>
            <a:endParaRPr lang="en-US" sz="800" dirty="0"/>
          </a:p>
        </p:txBody>
      </p:sp>
      <p:sp>
        <p:nvSpPr>
          <p:cNvPr id="4" name="Shape 2"/>
          <p:cNvSpPr/>
          <p:nvPr/>
        </p:nvSpPr>
        <p:spPr>
          <a:xfrm>
            <a:off x="577096" y="1532334"/>
            <a:ext cx="6685478" cy="104894"/>
          </a:xfrm>
          <a:prstGeom prst="roundRect">
            <a:avLst>
              <a:gd name="adj" fmla="val 42022"/>
            </a:avLst>
          </a:prstGeom>
          <a:solidFill>
            <a:srgbClr val="F0D4F7"/>
          </a:solidFill>
          <a:ln w="7620">
            <a:solidFill>
              <a:srgbClr val="D6BADD"/>
            </a:solidFill>
            <a:prstDash val="solid"/>
          </a:ln>
        </p:spPr>
      </p:sp>
      <p:sp>
        <p:nvSpPr>
          <p:cNvPr id="5" name="Shape 3"/>
          <p:cNvSpPr/>
          <p:nvPr/>
        </p:nvSpPr>
        <p:spPr>
          <a:xfrm>
            <a:off x="419695" y="1427440"/>
            <a:ext cx="314801" cy="314801"/>
          </a:xfrm>
          <a:prstGeom prst="roundRect">
            <a:avLst>
              <a:gd name="adj" fmla="val 145235"/>
            </a:avLst>
          </a:prstGeom>
          <a:solidFill>
            <a:srgbClr val="F0D4F7"/>
          </a:solidFill>
          <a:ln w="7620">
            <a:solidFill>
              <a:srgbClr val="D6BADD"/>
            </a:solidFill>
            <a:prstDash val="solid"/>
          </a:ln>
        </p:spPr>
      </p:sp>
      <p:pic>
        <p:nvPicPr>
          <p:cNvPr id="6" name="Image 0" descr="preencoded.png"/>
          <p:cNvPicPr>
            <a:picLocks noChangeAspect="1"/>
          </p:cNvPicPr>
          <p:nvPr/>
        </p:nvPicPr>
        <p:blipFill>
          <a:blip r:embed="rId3"/>
          <a:stretch>
            <a:fillRect/>
          </a:stretch>
        </p:blipFill>
        <p:spPr>
          <a:xfrm>
            <a:off x="498396" y="1486495"/>
            <a:ext cx="157401" cy="196691"/>
          </a:xfrm>
          <a:prstGeom prst="rect">
            <a:avLst/>
          </a:prstGeom>
        </p:spPr>
      </p:pic>
      <p:sp>
        <p:nvSpPr>
          <p:cNvPr id="7" name="Text 4"/>
          <p:cNvSpPr/>
          <p:nvPr/>
        </p:nvSpPr>
        <p:spPr>
          <a:xfrm>
            <a:off x="524589" y="1847136"/>
            <a:ext cx="2299692" cy="185142"/>
          </a:xfrm>
          <a:prstGeom prst="rect">
            <a:avLst/>
          </a:prstGeom>
          <a:noFill/>
          <a:ln/>
        </p:spPr>
        <p:txBody>
          <a:bodyPr wrap="none" lIns="0" tIns="0" rIns="0" bIns="0" rtlCol="0" anchor="t"/>
          <a:lstStyle/>
          <a:p>
            <a:pPr marL="0" indent="0" algn="l">
              <a:lnSpc>
                <a:spcPts val="1450"/>
              </a:lnSpc>
              <a:buNone/>
            </a:pPr>
            <a:r>
              <a:rPr lang="en-US" sz="1150" dirty="0">
                <a:solidFill>
                  <a:srgbClr val="272525"/>
                </a:solidFill>
                <a:latin typeface="Source Serif 4 Semi Bold" pitchFamily="34" charset="0"/>
                <a:ea typeface="Source Serif 4 Semi Bold" pitchFamily="34" charset="-122"/>
                <a:cs typeface="Source Serif 4 Semi Bold" pitchFamily="34" charset="-120"/>
              </a:rPr>
              <a:t>1. Spatial Ustunli Jadval Yaratish</a:t>
            </a:r>
            <a:endParaRPr lang="en-US" sz="1150" dirty="0"/>
          </a:p>
        </p:txBody>
      </p:sp>
      <p:sp>
        <p:nvSpPr>
          <p:cNvPr id="8" name="Text 5"/>
          <p:cNvSpPr/>
          <p:nvPr/>
        </p:nvSpPr>
        <p:spPr>
          <a:xfrm>
            <a:off x="524589" y="2095143"/>
            <a:ext cx="6633210" cy="343138"/>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Spatial ma’lumotlarni saqlash uchun odatiy SQL jadvaliga </a:t>
            </a:r>
            <a:r>
              <a:rPr lang="en-US" sz="800" dirty="0">
                <a:solidFill>
                  <a:srgbClr val="272525"/>
                </a:solidFill>
                <a:highlight>
                  <a:srgbClr val="F2F2F2"/>
                </a:highlight>
                <a:latin typeface="Consolas" pitchFamily="34" charset="0"/>
                <a:ea typeface="Consolas" pitchFamily="34" charset="-122"/>
                <a:cs typeface="Consolas" pitchFamily="34" charset="-120"/>
              </a:rPr>
              <a:t>geometry</a:t>
            </a:r>
            <a:r>
              <a:rPr lang="en-US" sz="800" dirty="0">
                <a:solidFill>
                  <a:srgbClr val="272525"/>
                </a:solidFill>
                <a:latin typeface="Source Sans 3" pitchFamily="34" charset="0"/>
                <a:ea typeface="Source Sans 3" pitchFamily="34" charset="-122"/>
                <a:cs typeface="Source Sans 3" pitchFamily="34" charset="-120"/>
              </a:rPr>
              <a:t> turidagi ustun qo‘shishingiz kerak. </a:t>
            </a:r>
            <a:r>
              <a:rPr lang="en-US" sz="800" dirty="0">
                <a:solidFill>
                  <a:srgbClr val="272525"/>
                </a:solidFill>
                <a:highlight>
                  <a:srgbClr val="F2F2F2"/>
                </a:highlight>
                <a:latin typeface="Consolas" pitchFamily="34" charset="0"/>
                <a:ea typeface="Consolas" pitchFamily="34" charset="-122"/>
                <a:cs typeface="Consolas" pitchFamily="34" charset="-120"/>
              </a:rPr>
              <a:t>AddGeometryColumn</a:t>
            </a:r>
            <a:r>
              <a:rPr lang="en-US" sz="800" dirty="0">
                <a:solidFill>
                  <a:srgbClr val="272525"/>
                </a:solidFill>
                <a:latin typeface="Source Sans 3" pitchFamily="34" charset="0"/>
                <a:ea typeface="Source Sans 3" pitchFamily="34" charset="-122"/>
                <a:cs typeface="Source Sans 3" pitchFamily="34" charset="-120"/>
              </a:rPr>
              <a:t> funksiyasi bunga yordam beradi. U jadval nomi, ustun nomi, SRID (Spatial Reference ID), geometriya turi va o‘lcham (2D/3D) kabi parametrlarni oladi.</a:t>
            </a:r>
            <a:endParaRPr lang="en-US" sz="800" dirty="0"/>
          </a:p>
        </p:txBody>
      </p:sp>
      <p:sp>
        <p:nvSpPr>
          <p:cNvPr id="9" name="Shape 6"/>
          <p:cNvSpPr/>
          <p:nvPr/>
        </p:nvSpPr>
        <p:spPr>
          <a:xfrm>
            <a:off x="524589" y="2556272"/>
            <a:ext cx="6633210" cy="1499473"/>
          </a:xfrm>
          <a:prstGeom prst="roundRect">
            <a:avLst>
              <a:gd name="adj" fmla="val 2940"/>
            </a:avLst>
          </a:prstGeom>
          <a:solidFill>
            <a:srgbClr val="F2F2F2"/>
          </a:solidFill>
          <a:ln/>
        </p:spPr>
      </p:sp>
      <p:sp>
        <p:nvSpPr>
          <p:cNvPr id="10" name="Shape 7"/>
          <p:cNvSpPr/>
          <p:nvPr/>
        </p:nvSpPr>
        <p:spPr>
          <a:xfrm>
            <a:off x="519351" y="2556272"/>
            <a:ext cx="6643688" cy="1499473"/>
          </a:xfrm>
          <a:prstGeom prst="roundRect">
            <a:avLst>
              <a:gd name="adj" fmla="val 1050"/>
            </a:avLst>
          </a:prstGeom>
          <a:solidFill>
            <a:srgbClr val="F2F2F2"/>
          </a:solidFill>
          <a:ln/>
        </p:spPr>
      </p:sp>
      <p:sp>
        <p:nvSpPr>
          <p:cNvPr id="11" name="Text 8"/>
          <p:cNvSpPr/>
          <p:nvPr/>
        </p:nvSpPr>
        <p:spPr>
          <a:xfrm>
            <a:off x="624245" y="2634972"/>
            <a:ext cx="6433899" cy="1342073"/>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SELECT AddGeometryColumn(  'joylar',   'geom',   4326,   'POINT',   2);</a:t>
            </a:r>
            <a:endParaRPr lang="en-US" sz="800" dirty="0"/>
          </a:p>
        </p:txBody>
      </p:sp>
      <p:sp>
        <p:nvSpPr>
          <p:cNvPr id="12" name="Text 9"/>
          <p:cNvSpPr/>
          <p:nvPr/>
        </p:nvSpPr>
        <p:spPr>
          <a:xfrm>
            <a:off x="524589" y="4173736"/>
            <a:ext cx="6633210" cy="175379"/>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Bu yerda </a:t>
            </a:r>
            <a:r>
              <a:rPr lang="en-US" sz="800" dirty="0">
                <a:solidFill>
                  <a:srgbClr val="272525"/>
                </a:solidFill>
                <a:highlight>
                  <a:srgbClr val="F2F2F2"/>
                </a:highlight>
                <a:latin typeface="Consolas" pitchFamily="34" charset="0"/>
                <a:ea typeface="Consolas" pitchFamily="34" charset="-122"/>
                <a:cs typeface="Consolas" pitchFamily="34" charset="-120"/>
              </a:rPr>
              <a:t>joylar</a:t>
            </a:r>
            <a:r>
              <a:rPr lang="en-US" sz="800" dirty="0">
                <a:solidFill>
                  <a:srgbClr val="272525"/>
                </a:solidFill>
                <a:latin typeface="Source Sans 3" pitchFamily="34" charset="0"/>
                <a:ea typeface="Source Sans 3" pitchFamily="34" charset="-122"/>
                <a:cs typeface="Source Sans 3" pitchFamily="34" charset="-120"/>
              </a:rPr>
              <a:t> jadval nomi, </a:t>
            </a:r>
            <a:r>
              <a:rPr lang="en-US" sz="800" dirty="0">
                <a:solidFill>
                  <a:srgbClr val="272525"/>
                </a:solidFill>
                <a:highlight>
                  <a:srgbClr val="F2F2F2"/>
                </a:highlight>
                <a:latin typeface="Consolas" pitchFamily="34" charset="0"/>
                <a:ea typeface="Consolas" pitchFamily="34" charset="-122"/>
                <a:cs typeface="Consolas" pitchFamily="34" charset="-120"/>
              </a:rPr>
              <a:t>geom</a:t>
            </a:r>
            <a:r>
              <a:rPr lang="en-US" sz="800" dirty="0">
                <a:solidFill>
                  <a:srgbClr val="272525"/>
                </a:solidFill>
                <a:latin typeface="Source Sans 3" pitchFamily="34" charset="0"/>
                <a:ea typeface="Source Sans 3" pitchFamily="34" charset="-122"/>
                <a:cs typeface="Source Sans 3" pitchFamily="34" charset="-120"/>
              </a:rPr>
              <a:t> spatial ustun nomi, </a:t>
            </a:r>
            <a:r>
              <a:rPr lang="en-US" sz="800" dirty="0">
                <a:solidFill>
                  <a:srgbClr val="272525"/>
                </a:solidFill>
                <a:highlight>
                  <a:srgbClr val="F2F2F2"/>
                </a:highlight>
                <a:latin typeface="Consolas" pitchFamily="34" charset="0"/>
                <a:ea typeface="Consolas" pitchFamily="34" charset="-122"/>
                <a:cs typeface="Consolas" pitchFamily="34" charset="-120"/>
              </a:rPr>
              <a:t>4326</a:t>
            </a:r>
            <a:r>
              <a:rPr lang="en-US" sz="800" dirty="0">
                <a:solidFill>
                  <a:srgbClr val="272525"/>
                </a:solidFill>
                <a:latin typeface="Source Sans 3" pitchFamily="34" charset="0"/>
                <a:ea typeface="Source Sans 3" pitchFamily="34" charset="-122"/>
                <a:cs typeface="Source Sans 3" pitchFamily="34" charset="-120"/>
              </a:rPr>
              <a:t> WGS84 koordinata tizimiga mos keluvchi SRID, </a:t>
            </a:r>
            <a:r>
              <a:rPr lang="en-US" sz="800" dirty="0">
                <a:solidFill>
                  <a:srgbClr val="272525"/>
                </a:solidFill>
                <a:highlight>
                  <a:srgbClr val="F2F2F2"/>
                </a:highlight>
                <a:latin typeface="Consolas" pitchFamily="34" charset="0"/>
                <a:ea typeface="Consolas" pitchFamily="34" charset="-122"/>
                <a:cs typeface="Consolas" pitchFamily="34" charset="-120"/>
              </a:rPr>
              <a:t>POINT</a:t>
            </a:r>
            <a:r>
              <a:rPr lang="en-US" sz="800" dirty="0">
                <a:solidFill>
                  <a:srgbClr val="272525"/>
                </a:solidFill>
                <a:latin typeface="Source Sans 3" pitchFamily="34" charset="0"/>
                <a:ea typeface="Source Sans 3" pitchFamily="34" charset="-122"/>
                <a:cs typeface="Source Sans 3" pitchFamily="34" charset="-120"/>
              </a:rPr>
              <a:t> geometriya turi va </a:t>
            </a:r>
            <a:r>
              <a:rPr lang="en-US" sz="800" dirty="0">
                <a:solidFill>
                  <a:srgbClr val="272525"/>
                </a:solidFill>
                <a:highlight>
                  <a:srgbClr val="F2F2F2"/>
                </a:highlight>
                <a:latin typeface="Consolas" pitchFamily="34" charset="0"/>
                <a:ea typeface="Consolas" pitchFamily="34" charset="-122"/>
                <a:cs typeface="Consolas" pitchFamily="34" charset="-120"/>
              </a:rPr>
              <a:t>2</a:t>
            </a:r>
            <a:r>
              <a:rPr lang="en-US" sz="800" dirty="0">
                <a:solidFill>
                  <a:srgbClr val="272525"/>
                </a:solidFill>
                <a:latin typeface="Source Sans 3" pitchFamily="34" charset="0"/>
                <a:ea typeface="Source Sans 3" pitchFamily="34" charset="-122"/>
                <a:cs typeface="Source Sans 3" pitchFamily="34" charset="-120"/>
              </a:rPr>
              <a:t> o‘lcham (2D).</a:t>
            </a:r>
            <a:endParaRPr lang="en-US" sz="800" dirty="0"/>
          </a:p>
        </p:txBody>
      </p:sp>
      <p:sp>
        <p:nvSpPr>
          <p:cNvPr id="13" name="Shape 10"/>
          <p:cNvSpPr/>
          <p:nvPr/>
        </p:nvSpPr>
        <p:spPr>
          <a:xfrm>
            <a:off x="7524988" y="1374934"/>
            <a:ext cx="6685598" cy="104894"/>
          </a:xfrm>
          <a:prstGeom prst="roundRect">
            <a:avLst>
              <a:gd name="adj" fmla="val 42022"/>
            </a:avLst>
          </a:prstGeom>
          <a:solidFill>
            <a:srgbClr val="F0D4F7"/>
          </a:solidFill>
          <a:ln w="7620">
            <a:solidFill>
              <a:srgbClr val="D6BADD"/>
            </a:solidFill>
            <a:prstDash val="solid"/>
          </a:ln>
        </p:spPr>
      </p:sp>
      <p:sp>
        <p:nvSpPr>
          <p:cNvPr id="14" name="Shape 11"/>
          <p:cNvSpPr/>
          <p:nvPr/>
        </p:nvSpPr>
        <p:spPr>
          <a:xfrm>
            <a:off x="7367587" y="1270040"/>
            <a:ext cx="314801" cy="314801"/>
          </a:xfrm>
          <a:prstGeom prst="roundRect">
            <a:avLst>
              <a:gd name="adj" fmla="val 145235"/>
            </a:avLst>
          </a:prstGeom>
          <a:solidFill>
            <a:srgbClr val="F0D4F7"/>
          </a:solidFill>
          <a:ln w="7620">
            <a:solidFill>
              <a:srgbClr val="D6BADD"/>
            </a:solidFill>
            <a:prstDash val="solid"/>
          </a:ln>
        </p:spPr>
      </p:sp>
      <p:pic>
        <p:nvPicPr>
          <p:cNvPr id="15" name="Image 1" descr="preencoded.png"/>
          <p:cNvPicPr>
            <a:picLocks noChangeAspect="1"/>
          </p:cNvPicPr>
          <p:nvPr/>
        </p:nvPicPr>
        <p:blipFill>
          <a:blip r:embed="rId4"/>
          <a:stretch>
            <a:fillRect/>
          </a:stretch>
        </p:blipFill>
        <p:spPr>
          <a:xfrm>
            <a:off x="7446288" y="1329095"/>
            <a:ext cx="157401" cy="196691"/>
          </a:xfrm>
          <a:prstGeom prst="rect">
            <a:avLst/>
          </a:prstGeom>
        </p:spPr>
      </p:pic>
      <p:sp>
        <p:nvSpPr>
          <p:cNvPr id="16" name="Text 12"/>
          <p:cNvSpPr/>
          <p:nvPr/>
        </p:nvSpPr>
        <p:spPr>
          <a:xfrm>
            <a:off x="7472482" y="1689735"/>
            <a:ext cx="2290643" cy="185142"/>
          </a:xfrm>
          <a:prstGeom prst="rect">
            <a:avLst/>
          </a:prstGeom>
          <a:noFill/>
          <a:ln/>
        </p:spPr>
        <p:txBody>
          <a:bodyPr wrap="none" lIns="0" tIns="0" rIns="0" bIns="0" rtlCol="0" anchor="t"/>
          <a:lstStyle/>
          <a:p>
            <a:pPr marL="0" indent="0" algn="l">
              <a:lnSpc>
                <a:spcPts val="1450"/>
              </a:lnSpc>
              <a:buNone/>
            </a:pPr>
            <a:r>
              <a:rPr lang="en-US" sz="1150" dirty="0">
                <a:solidFill>
                  <a:srgbClr val="272525"/>
                </a:solidFill>
                <a:latin typeface="Source Serif 4 Semi Bold" pitchFamily="34" charset="0"/>
                <a:ea typeface="Source Serif 4 Semi Bold" pitchFamily="34" charset="-122"/>
                <a:cs typeface="Source Serif 4 Semi Bold" pitchFamily="34" charset="-120"/>
              </a:rPr>
              <a:t>2. Spatial Ma’lumotlarni Kiritish</a:t>
            </a:r>
            <a:endParaRPr lang="en-US" sz="1150" dirty="0"/>
          </a:p>
        </p:txBody>
      </p:sp>
      <p:sp>
        <p:nvSpPr>
          <p:cNvPr id="17" name="Text 13"/>
          <p:cNvSpPr/>
          <p:nvPr/>
        </p:nvSpPr>
        <p:spPr>
          <a:xfrm>
            <a:off x="7472482" y="1937742"/>
            <a:ext cx="6633329" cy="343138"/>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Yangi yaratilgan jadvalga ma’lumotlarni kiritish uchun </a:t>
            </a:r>
            <a:r>
              <a:rPr lang="en-US" sz="800" dirty="0">
                <a:solidFill>
                  <a:srgbClr val="272525"/>
                </a:solidFill>
                <a:highlight>
                  <a:srgbClr val="F2F2F2"/>
                </a:highlight>
                <a:latin typeface="Consolas" pitchFamily="34" charset="0"/>
                <a:ea typeface="Consolas" pitchFamily="34" charset="-122"/>
                <a:cs typeface="Consolas" pitchFamily="34" charset="-120"/>
              </a:rPr>
              <a:t>ST_GeomFromText</a:t>
            </a:r>
            <a:r>
              <a:rPr lang="en-US" sz="800" dirty="0">
                <a:solidFill>
                  <a:srgbClr val="272525"/>
                </a:solidFill>
                <a:latin typeface="Source Sans 3" pitchFamily="34" charset="0"/>
                <a:ea typeface="Source Sans 3" pitchFamily="34" charset="-122"/>
                <a:cs typeface="Source Sans 3" pitchFamily="34" charset="-120"/>
              </a:rPr>
              <a:t> funksiyasidan foydalaniladi. Bu funksiya WKT (Well-Known Text) formatidagi spatial ma’lumotlarni PostGIS tushunadigan ichki formatga aylantiradi.</a:t>
            </a:r>
            <a:endParaRPr lang="en-US" sz="800" dirty="0"/>
          </a:p>
        </p:txBody>
      </p:sp>
      <p:sp>
        <p:nvSpPr>
          <p:cNvPr id="18" name="Shape 14"/>
          <p:cNvSpPr/>
          <p:nvPr/>
        </p:nvSpPr>
        <p:spPr>
          <a:xfrm>
            <a:off x="7472482" y="2398871"/>
            <a:ext cx="6633329" cy="2170509"/>
          </a:xfrm>
          <a:prstGeom prst="roundRect">
            <a:avLst>
              <a:gd name="adj" fmla="val 2031"/>
            </a:avLst>
          </a:prstGeom>
          <a:solidFill>
            <a:srgbClr val="F2F2F2"/>
          </a:solidFill>
          <a:ln/>
        </p:spPr>
      </p:sp>
      <p:sp>
        <p:nvSpPr>
          <p:cNvPr id="19" name="Shape 15"/>
          <p:cNvSpPr/>
          <p:nvPr/>
        </p:nvSpPr>
        <p:spPr>
          <a:xfrm>
            <a:off x="7467243" y="2398871"/>
            <a:ext cx="6643807" cy="2170509"/>
          </a:xfrm>
          <a:prstGeom prst="roundRect">
            <a:avLst>
              <a:gd name="adj" fmla="val 725"/>
            </a:avLst>
          </a:prstGeom>
          <a:solidFill>
            <a:srgbClr val="F2F2F2"/>
          </a:solidFill>
          <a:ln/>
        </p:spPr>
      </p:sp>
      <p:sp>
        <p:nvSpPr>
          <p:cNvPr id="20" name="Text 16"/>
          <p:cNvSpPr/>
          <p:nvPr/>
        </p:nvSpPr>
        <p:spPr>
          <a:xfrm>
            <a:off x="7572137" y="2477572"/>
            <a:ext cx="6434018" cy="2013109"/>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INSERT INTO joylar (nomi, geom) VALUES (  'Toshkent',   ST_GeomFromText('POINT(69.27 41.31)', 4326));INSERT INTO joylar (nomi, geom) VALUES (  'Samarqand',   ST_GeomFromText('POINT(66.97 39.65)', 4326));</a:t>
            </a:r>
            <a:endParaRPr lang="en-US" sz="800" dirty="0"/>
          </a:p>
        </p:txBody>
      </p:sp>
      <p:sp>
        <p:nvSpPr>
          <p:cNvPr id="21" name="Text 17"/>
          <p:cNvSpPr/>
          <p:nvPr/>
        </p:nvSpPr>
        <p:spPr>
          <a:xfrm>
            <a:off x="7472482" y="4687372"/>
            <a:ext cx="6633329" cy="175379"/>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Bu buyruqlar </a:t>
            </a:r>
            <a:r>
              <a:rPr lang="en-US" sz="800" dirty="0">
                <a:solidFill>
                  <a:srgbClr val="272525"/>
                </a:solidFill>
                <a:highlight>
                  <a:srgbClr val="F2F2F2"/>
                </a:highlight>
                <a:latin typeface="Consolas" pitchFamily="34" charset="0"/>
                <a:ea typeface="Consolas" pitchFamily="34" charset="-122"/>
                <a:cs typeface="Consolas" pitchFamily="34" charset="-120"/>
              </a:rPr>
              <a:t>joylar</a:t>
            </a:r>
            <a:r>
              <a:rPr lang="en-US" sz="800" dirty="0">
                <a:solidFill>
                  <a:srgbClr val="272525"/>
                </a:solidFill>
                <a:latin typeface="Source Sans 3" pitchFamily="34" charset="0"/>
                <a:ea typeface="Source Sans 3" pitchFamily="34" charset="-122"/>
                <a:cs typeface="Source Sans 3" pitchFamily="34" charset="-120"/>
              </a:rPr>
              <a:t> jadvaliga Toshkent va Samarqand shaharlarining koordinatalarini kiritadi.</a:t>
            </a:r>
            <a:endParaRPr lang="en-US" sz="800" dirty="0"/>
          </a:p>
        </p:txBody>
      </p:sp>
      <p:sp>
        <p:nvSpPr>
          <p:cNvPr id="22" name="Shape 18"/>
          <p:cNvSpPr/>
          <p:nvPr/>
        </p:nvSpPr>
        <p:spPr>
          <a:xfrm>
            <a:off x="577096" y="5334833"/>
            <a:ext cx="6685478" cy="104894"/>
          </a:xfrm>
          <a:prstGeom prst="roundRect">
            <a:avLst>
              <a:gd name="adj" fmla="val 42022"/>
            </a:avLst>
          </a:prstGeom>
          <a:solidFill>
            <a:srgbClr val="F0D4F7"/>
          </a:solidFill>
          <a:ln w="7620">
            <a:solidFill>
              <a:srgbClr val="D6BADD"/>
            </a:solidFill>
            <a:prstDash val="solid"/>
          </a:ln>
        </p:spPr>
      </p:sp>
      <p:sp>
        <p:nvSpPr>
          <p:cNvPr id="23" name="Shape 19"/>
          <p:cNvSpPr/>
          <p:nvPr/>
        </p:nvSpPr>
        <p:spPr>
          <a:xfrm>
            <a:off x="419695" y="5229939"/>
            <a:ext cx="314801" cy="314801"/>
          </a:xfrm>
          <a:prstGeom prst="roundRect">
            <a:avLst>
              <a:gd name="adj" fmla="val 145235"/>
            </a:avLst>
          </a:prstGeom>
          <a:solidFill>
            <a:srgbClr val="F0D4F7"/>
          </a:solidFill>
          <a:ln w="7620">
            <a:solidFill>
              <a:srgbClr val="D6BADD"/>
            </a:solidFill>
            <a:prstDash val="solid"/>
          </a:ln>
        </p:spPr>
      </p:sp>
      <p:pic>
        <p:nvPicPr>
          <p:cNvPr id="24" name="Image 2" descr="preencoded.png"/>
          <p:cNvPicPr>
            <a:picLocks noChangeAspect="1"/>
          </p:cNvPicPr>
          <p:nvPr/>
        </p:nvPicPr>
        <p:blipFill>
          <a:blip r:embed="rId5"/>
          <a:stretch>
            <a:fillRect/>
          </a:stretch>
        </p:blipFill>
        <p:spPr>
          <a:xfrm>
            <a:off x="498396" y="5288994"/>
            <a:ext cx="157401" cy="196691"/>
          </a:xfrm>
          <a:prstGeom prst="rect">
            <a:avLst/>
          </a:prstGeom>
        </p:spPr>
      </p:pic>
      <p:sp>
        <p:nvSpPr>
          <p:cNvPr id="25" name="Text 20"/>
          <p:cNvSpPr/>
          <p:nvPr/>
        </p:nvSpPr>
        <p:spPr>
          <a:xfrm>
            <a:off x="524589" y="5649635"/>
            <a:ext cx="2492693" cy="185142"/>
          </a:xfrm>
          <a:prstGeom prst="rect">
            <a:avLst/>
          </a:prstGeom>
          <a:noFill/>
          <a:ln/>
        </p:spPr>
        <p:txBody>
          <a:bodyPr wrap="none" lIns="0" tIns="0" rIns="0" bIns="0" rtlCol="0" anchor="t"/>
          <a:lstStyle/>
          <a:p>
            <a:pPr marL="0" indent="0" algn="l">
              <a:lnSpc>
                <a:spcPts val="1450"/>
              </a:lnSpc>
              <a:buNone/>
            </a:pPr>
            <a:r>
              <a:rPr lang="en-US" sz="1150" dirty="0">
                <a:solidFill>
                  <a:srgbClr val="272525"/>
                </a:solidFill>
                <a:latin typeface="Source Serif 4 Semi Bold" pitchFamily="34" charset="0"/>
                <a:ea typeface="Source Serif 4 Semi Bold" pitchFamily="34" charset="-122"/>
                <a:cs typeface="Source Serif 4 Semi Bold" pitchFamily="34" charset="-120"/>
              </a:rPr>
              <a:t>3. Spatial Ma’lumotlarni Tahrirlash</a:t>
            </a:r>
            <a:endParaRPr lang="en-US" sz="1150" dirty="0"/>
          </a:p>
        </p:txBody>
      </p:sp>
      <p:sp>
        <p:nvSpPr>
          <p:cNvPr id="26" name="Text 21"/>
          <p:cNvSpPr/>
          <p:nvPr/>
        </p:nvSpPr>
        <p:spPr>
          <a:xfrm>
            <a:off x="524589" y="5897642"/>
            <a:ext cx="6633210" cy="343138"/>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Mavjud spatial ma’lumotlarni yangilash ham </a:t>
            </a:r>
            <a:r>
              <a:rPr lang="en-US" sz="800" dirty="0">
                <a:solidFill>
                  <a:srgbClr val="272525"/>
                </a:solidFill>
                <a:highlight>
                  <a:srgbClr val="F2F2F2"/>
                </a:highlight>
                <a:latin typeface="Consolas" pitchFamily="34" charset="0"/>
                <a:ea typeface="Consolas" pitchFamily="34" charset="-122"/>
                <a:cs typeface="Consolas" pitchFamily="34" charset="-120"/>
              </a:rPr>
              <a:t>ST_GeomFromText</a:t>
            </a:r>
            <a:r>
              <a:rPr lang="en-US" sz="800" dirty="0">
                <a:solidFill>
                  <a:srgbClr val="272525"/>
                </a:solidFill>
                <a:latin typeface="Source Sans 3" pitchFamily="34" charset="0"/>
                <a:ea typeface="Source Sans 3" pitchFamily="34" charset="-122"/>
                <a:cs typeface="Source Sans 3" pitchFamily="34" charset="-120"/>
              </a:rPr>
              <a:t> yordamida amalga oshiriladi. Siz o‘zingiz xohlagan obyektning geografik joylashuvini o‘zgartirishingiz mumkin.</a:t>
            </a:r>
            <a:endParaRPr lang="en-US" sz="800" dirty="0"/>
          </a:p>
        </p:txBody>
      </p:sp>
      <p:sp>
        <p:nvSpPr>
          <p:cNvPr id="27" name="Shape 22"/>
          <p:cNvSpPr/>
          <p:nvPr/>
        </p:nvSpPr>
        <p:spPr>
          <a:xfrm>
            <a:off x="524589" y="6358771"/>
            <a:ext cx="6633210" cy="828437"/>
          </a:xfrm>
          <a:prstGeom prst="roundRect">
            <a:avLst>
              <a:gd name="adj" fmla="val 5321"/>
            </a:avLst>
          </a:prstGeom>
          <a:solidFill>
            <a:srgbClr val="F2F2F2"/>
          </a:solidFill>
          <a:ln/>
        </p:spPr>
      </p:sp>
      <p:sp>
        <p:nvSpPr>
          <p:cNvPr id="28" name="Shape 23"/>
          <p:cNvSpPr/>
          <p:nvPr/>
        </p:nvSpPr>
        <p:spPr>
          <a:xfrm>
            <a:off x="519351" y="6358771"/>
            <a:ext cx="6643688" cy="828437"/>
          </a:xfrm>
          <a:prstGeom prst="roundRect">
            <a:avLst>
              <a:gd name="adj" fmla="val 1900"/>
            </a:avLst>
          </a:prstGeom>
          <a:solidFill>
            <a:srgbClr val="F2F2F2"/>
          </a:solidFill>
          <a:ln/>
        </p:spPr>
      </p:sp>
      <p:sp>
        <p:nvSpPr>
          <p:cNvPr id="29" name="Text 24"/>
          <p:cNvSpPr/>
          <p:nvPr/>
        </p:nvSpPr>
        <p:spPr>
          <a:xfrm>
            <a:off x="624245" y="6437471"/>
            <a:ext cx="6433899" cy="671036"/>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UPDATE joylar SET geom = ST_GeomFromText('POINT(71.78 40.38)', 4326) WHERE nomi = 'Fargona';</a:t>
            </a:r>
            <a:endParaRPr lang="en-US" sz="800" dirty="0"/>
          </a:p>
        </p:txBody>
      </p:sp>
      <p:sp>
        <p:nvSpPr>
          <p:cNvPr id="30" name="Text 25"/>
          <p:cNvSpPr/>
          <p:nvPr/>
        </p:nvSpPr>
        <p:spPr>
          <a:xfrm>
            <a:off x="524589" y="7305199"/>
            <a:ext cx="6633210" cy="167759"/>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Bu misolda Farg‘ona shahrining koordinatalari yangilanmoqda.</a:t>
            </a:r>
            <a:endParaRPr lang="en-US" sz="800" dirty="0"/>
          </a:p>
        </p:txBody>
      </p:sp>
      <p:sp>
        <p:nvSpPr>
          <p:cNvPr id="31" name="Shape 26"/>
          <p:cNvSpPr/>
          <p:nvPr/>
        </p:nvSpPr>
        <p:spPr>
          <a:xfrm>
            <a:off x="7524988" y="5177433"/>
            <a:ext cx="6685598" cy="104894"/>
          </a:xfrm>
          <a:prstGeom prst="roundRect">
            <a:avLst>
              <a:gd name="adj" fmla="val 42022"/>
            </a:avLst>
          </a:prstGeom>
          <a:solidFill>
            <a:srgbClr val="F0D4F7"/>
          </a:solidFill>
          <a:ln w="7620">
            <a:solidFill>
              <a:srgbClr val="D6BADD"/>
            </a:solidFill>
            <a:prstDash val="solid"/>
          </a:ln>
        </p:spPr>
      </p:sp>
      <p:sp>
        <p:nvSpPr>
          <p:cNvPr id="32" name="Shape 27"/>
          <p:cNvSpPr/>
          <p:nvPr/>
        </p:nvSpPr>
        <p:spPr>
          <a:xfrm>
            <a:off x="7367587" y="5072539"/>
            <a:ext cx="314801" cy="314801"/>
          </a:xfrm>
          <a:prstGeom prst="roundRect">
            <a:avLst>
              <a:gd name="adj" fmla="val 145235"/>
            </a:avLst>
          </a:prstGeom>
          <a:solidFill>
            <a:srgbClr val="F0D4F7"/>
          </a:solidFill>
          <a:ln w="7620">
            <a:solidFill>
              <a:srgbClr val="D6BADD"/>
            </a:solidFill>
            <a:prstDash val="solid"/>
          </a:ln>
        </p:spPr>
      </p:sp>
      <p:pic>
        <p:nvPicPr>
          <p:cNvPr id="33" name="Image 3" descr="preencoded.png"/>
          <p:cNvPicPr>
            <a:picLocks noChangeAspect="1"/>
          </p:cNvPicPr>
          <p:nvPr/>
        </p:nvPicPr>
        <p:blipFill>
          <a:blip r:embed="rId6"/>
          <a:stretch>
            <a:fillRect/>
          </a:stretch>
        </p:blipFill>
        <p:spPr>
          <a:xfrm>
            <a:off x="7446288" y="5131594"/>
            <a:ext cx="157401" cy="196691"/>
          </a:xfrm>
          <a:prstGeom prst="rect">
            <a:avLst/>
          </a:prstGeom>
        </p:spPr>
      </p:pic>
      <p:sp>
        <p:nvSpPr>
          <p:cNvPr id="34" name="Text 28"/>
          <p:cNvSpPr/>
          <p:nvPr/>
        </p:nvSpPr>
        <p:spPr>
          <a:xfrm>
            <a:off x="7472482" y="5492234"/>
            <a:ext cx="1952744" cy="185142"/>
          </a:xfrm>
          <a:prstGeom prst="rect">
            <a:avLst/>
          </a:prstGeom>
          <a:noFill/>
          <a:ln/>
        </p:spPr>
        <p:txBody>
          <a:bodyPr wrap="none" lIns="0" tIns="0" rIns="0" bIns="0" rtlCol="0" anchor="t"/>
          <a:lstStyle/>
          <a:p>
            <a:pPr marL="0" indent="0" algn="l">
              <a:lnSpc>
                <a:spcPts val="1450"/>
              </a:lnSpc>
              <a:buNone/>
            </a:pPr>
            <a:r>
              <a:rPr lang="en-US" sz="1150" dirty="0">
                <a:solidFill>
                  <a:srgbClr val="272525"/>
                </a:solidFill>
                <a:latin typeface="Source Serif 4 Semi Bold" pitchFamily="34" charset="0"/>
                <a:ea typeface="Source Serif 4 Semi Bold" pitchFamily="34" charset="-122"/>
                <a:cs typeface="Source Serif 4 Semi Bold" pitchFamily="34" charset="-120"/>
              </a:rPr>
              <a:t>4. Spatial So‘rovlar Bajarish</a:t>
            </a:r>
            <a:endParaRPr lang="en-US" sz="1150" dirty="0"/>
          </a:p>
        </p:txBody>
      </p:sp>
      <p:sp>
        <p:nvSpPr>
          <p:cNvPr id="35" name="Text 29"/>
          <p:cNvSpPr/>
          <p:nvPr/>
        </p:nvSpPr>
        <p:spPr>
          <a:xfrm>
            <a:off x="7472482" y="5740241"/>
            <a:ext cx="6633329" cy="343138"/>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PostGIS spatial funksiyalari yordamida ma’lumotlarga murakkab so‘rovlar berishingiz mumkin. Masalan, ikki nuqta orasidagi masofani hisoblash uchun </a:t>
            </a:r>
            <a:r>
              <a:rPr lang="en-US" sz="800" dirty="0">
                <a:solidFill>
                  <a:srgbClr val="272525"/>
                </a:solidFill>
                <a:highlight>
                  <a:srgbClr val="F2F2F2"/>
                </a:highlight>
                <a:latin typeface="Consolas" pitchFamily="34" charset="0"/>
                <a:ea typeface="Consolas" pitchFamily="34" charset="-122"/>
                <a:cs typeface="Consolas" pitchFamily="34" charset="-120"/>
              </a:rPr>
              <a:t>ST_Distance</a:t>
            </a:r>
            <a:r>
              <a:rPr lang="en-US" sz="800" dirty="0">
                <a:solidFill>
                  <a:srgbClr val="272525"/>
                </a:solidFill>
                <a:latin typeface="Source Sans 3" pitchFamily="34" charset="0"/>
                <a:ea typeface="Source Sans 3" pitchFamily="34" charset="-122"/>
                <a:cs typeface="Source Sans 3" pitchFamily="34" charset="-120"/>
              </a:rPr>
              <a:t> funksiyasidan foydalanishingiz mumkin.</a:t>
            </a:r>
            <a:endParaRPr lang="en-US" sz="800" dirty="0"/>
          </a:p>
        </p:txBody>
      </p:sp>
      <p:sp>
        <p:nvSpPr>
          <p:cNvPr id="36" name="Shape 30"/>
          <p:cNvSpPr/>
          <p:nvPr/>
        </p:nvSpPr>
        <p:spPr>
          <a:xfrm>
            <a:off x="7472482" y="6201370"/>
            <a:ext cx="6633329" cy="1163955"/>
          </a:xfrm>
          <a:prstGeom prst="roundRect">
            <a:avLst>
              <a:gd name="adj" fmla="val 3787"/>
            </a:avLst>
          </a:prstGeom>
          <a:solidFill>
            <a:srgbClr val="F2F2F2"/>
          </a:solidFill>
          <a:ln/>
        </p:spPr>
      </p:sp>
      <p:sp>
        <p:nvSpPr>
          <p:cNvPr id="37" name="Shape 31"/>
          <p:cNvSpPr/>
          <p:nvPr/>
        </p:nvSpPr>
        <p:spPr>
          <a:xfrm>
            <a:off x="7467243" y="6201370"/>
            <a:ext cx="6643807" cy="1163955"/>
          </a:xfrm>
          <a:prstGeom prst="roundRect">
            <a:avLst>
              <a:gd name="adj" fmla="val 1352"/>
            </a:avLst>
          </a:prstGeom>
          <a:solidFill>
            <a:srgbClr val="F2F2F2"/>
          </a:solidFill>
          <a:ln/>
        </p:spPr>
      </p:sp>
      <p:sp>
        <p:nvSpPr>
          <p:cNvPr id="38" name="Text 32"/>
          <p:cNvSpPr/>
          <p:nvPr/>
        </p:nvSpPr>
        <p:spPr>
          <a:xfrm>
            <a:off x="7572137" y="6280071"/>
            <a:ext cx="6434018" cy="1006554"/>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highlight>
                  <a:srgbClr val="F2F2F2"/>
                </a:highlight>
                <a:latin typeface="Consolas" pitchFamily="34" charset="0"/>
                <a:ea typeface="Consolas" pitchFamily="34" charset="-122"/>
                <a:cs typeface="Consolas" pitchFamily="34" charset="-120"/>
              </a:rPr>
              <a:t>SELECT   ST_Distance(    ST_GeomFromText('POINT(69.27 41.31)', 4326)::geography,     ST_GeomFromText('POINT(66.97 39.65)', 4326)::geography  );</a:t>
            </a:r>
            <a:endParaRPr lang="en-US" sz="800" dirty="0"/>
          </a:p>
        </p:txBody>
      </p:sp>
      <p:sp>
        <p:nvSpPr>
          <p:cNvPr id="39" name="Text 33"/>
          <p:cNvSpPr/>
          <p:nvPr/>
        </p:nvSpPr>
        <p:spPr>
          <a:xfrm>
            <a:off x="7472482" y="7483316"/>
            <a:ext cx="6633329" cy="175379"/>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Bu buyruq Toshkent va Samarqand orasidagi masofani metrda qaytaradi. </a:t>
            </a:r>
            <a:r>
              <a:rPr lang="en-US" sz="800" dirty="0">
                <a:solidFill>
                  <a:srgbClr val="272525"/>
                </a:solidFill>
                <a:highlight>
                  <a:srgbClr val="F2F2F2"/>
                </a:highlight>
                <a:latin typeface="Consolas" pitchFamily="34" charset="0"/>
                <a:ea typeface="Consolas" pitchFamily="34" charset="-122"/>
                <a:cs typeface="Consolas" pitchFamily="34" charset="-120"/>
              </a:rPr>
              <a:t>::geography</a:t>
            </a:r>
            <a:r>
              <a:rPr lang="en-US" sz="800" dirty="0">
                <a:solidFill>
                  <a:srgbClr val="272525"/>
                </a:solidFill>
                <a:latin typeface="Source Sans 3" pitchFamily="34" charset="0"/>
                <a:ea typeface="Source Sans 3" pitchFamily="34" charset="-122"/>
                <a:cs typeface="Source Sans 3" pitchFamily="34" charset="-120"/>
              </a:rPr>
              <a:t> operatori geodezik masofani aniqroq hisoblash uchun ishlatiladi.</a:t>
            </a:r>
            <a:endParaRPr lang="en-US" sz="800" dirty="0"/>
          </a:p>
        </p:txBody>
      </p:sp>
      <p:sp>
        <p:nvSpPr>
          <p:cNvPr id="40" name="Прямоугольник 39">
            <a:extLst>
              <a:ext uri="{FF2B5EF4-FFF2-40B4-BE49-F238E27FC236}">
                <a16:creationId xmlns:a16="http://schemas.microsoft.com/office/drawing/2014/main" id="{A6308839-8C01-2B53-E069-FA7D7CB1D5E2}"/>
              </a:ext>
            </a:extLst>
          </p:cNvPr>
          <p:cNvSpPr/>
          <p:nvPr/>
        </p:nvSpPr>
        <p:spPr>
          <a:xfrm>
            <a:off x="12664678" y="7696677"/>
            <a:ext cx="1965722" cy="5038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1137</Words>
  <Application>Microsoft Office PowerPoint</Application>
  <PresentationFormat>Произвольный</PresentationFormat>
  <Paragraphs>62</Paragraphs>
  <Slides>5</Slides>
  <Notes>5</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5</vt:i4>
      </vt:variant>
    </vt:vector>
  </HeadingPairs>
  <TitlesOfParts>
    <vt:vector size="10" baseType="lpstr">
      <vt:lpstr>Consolas</vt:lpstr>
      <vt:lpstr>Arial</vt:lpstr>
      <vt:lpstr>Source Serif 4 Semi Bold</vt:lpstr>
      <vt:lpstr>Source Sans 3</vt:lpstr>
      <vt:lpstr>Office Theme</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Azizbek</cp:lastModifiedBy>
  <cp:revision>2</cp:revision>
  <dcterms:created xsi:type="dcterms:W3CDTF">2025-10-05T04:39:49Z</dcterms:created>
  <dcterms:modified xsi:type="dcterms:W3CDTF">2025-10-05T16:32:27Z</dcterms:modified>
</cp:coreProperties>
</file>