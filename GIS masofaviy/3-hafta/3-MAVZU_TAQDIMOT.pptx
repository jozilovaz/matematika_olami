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Source Sans 3" panose="020B0604020202020204" charset="0"/>
      <p:regular r:id="rId13"/>
    </p:embeddedFont>
    <p:embeddedFont>
      <p:font typeface="Source Serif 4 Semi Bold" panose="020B060402020202020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954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24124" y="3058716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Geoaxborot Texnologiyalari Tizimlarini Tanlash</a:t>
            </a:r>
            <a:endParaRPr lang="en-US" sz="44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0939C7D-B841-9659-574B-95A9014D0CEF}"/>
              </a:ext>
            </a:extLst>
          </p:cNvPr>
          <p:cNvSpPr/>
          <p:nvPr/>
        </p:nvSpPr>
        <p:spPr>
          <a:xfrm>
            <a:off x="12753474" y="7684168"/>
            <a:ext cx="1876926" cy="54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8308" y="965002"/>
            <a:ext cx="6823234" cy="628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Geoaxborot Tizimlari Nima?</a:t>
            </a:r>
            <a:endParaRPr lang="en-US" sz="3950" dirty="0"/>
          </a:p>
        </p:txBody>
      </p:sp>
      <p:sp>
        <p:nvSpPr>
          <p:cNvPr id="6" name="Shape 2"/>
          <p:cNvSpPr/>
          <p:nvPr/>
        </p:nvSpPr>
        <p:spPr>
          <a:xfrm>
            <a:off x="748308" y="2235160"/>
            <a:ext cx="3716774" cy="2589609"/>
          </a:xfrm>
          <a:prstGeom prst="roundRect">
            <a:avLst>
              <a:gd name="adj" fmla="val 565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748308" y="2204680"/>
            <a:ext cx="3716774" cy="121920"/>
          </a:xfrm>
          <a:prstGeom prst="roundRect">
            <a:avLst>
              <a:gd name="adj" fmla="val 73657"/>
            </a:avLst>
          </a:prstGeom>
          <a:solidFill>
            <a:srgbClr val="BE49DF"/>
          </a:solidFill>
          <a:ln/>
        </p:spPr>
      </p:sp>
      <p:sp>
        <p:nvSpPr>
          <p:cNvPr id="8" name="Shape 4"/>
          <p:cNvSpPr/>
          <p:nvPr/>
        </p:nvSpPr>
        <p:spPr>
          <a:xfrm>
            <a:off x="2285940" y="1914525"/>
            <a:ext cx="641390" cy="641390"/>
          </a:xfrm>
          <a:prstGeom prst="roundRect">
            <a:avLst>
              <a:gd name="adj" fmla="val 142565"/>
            </a:avLst>
          </a:prstGeom>
          <a:solidFill>
            <a:srgbClr val="BE49DF"/>
          </a:solidFill>
          <a:ln/>
        </p:spPr>
      </p:sp>
      <p:sp>
        <p:nvSpPr>
          <p:cNvPr id="9" name="Text 5"/>
          <p:cNvSpPr/>
          <p:nvPr/>
        </p:nvSpPr>
        <p:spPr>
          <a:xfrm>
            <a:off x="2478345" y="2074902"/>
            <a:ext cx="256580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92505" y="2769632"/>
            <a:ext cx="3228380" cy="62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Ma'lumotlarni To'plash va Saqlash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992505" y="3526750"/>
            <a:ext cx="3228380" cy="102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Tabiat va jamiyat hodisalarining fazoviy ma’lumotlarini to‘plash, tartibga solish va xavfsiz saqlash.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4678799" y="2235160"/>
            <a:ext cx="3716893" cy="2589609"/>
          </a:xfrm>
          <a:prstGeom prst="roundRect">
            <a:avLst>
              <a:gd name="adj" fmla="val 565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678799" y="2204680"/>
            <a:ext cx="3716893" cy="121920"/>
          </a:xfrm>
          <a:prstGeom prst="roundRect">
            <a:avLst>
              <a:gd name="adj" fmla="val 73657"/>
            </a:avLst>
          </a:prstGeom>
          <a:solidFill>
            <a:srgbClr val="BE49DF"/>
          </a:solidFill>
          <a:ln/>
        </p:spPr>
      </p:sp>
      <p:sp>
        <p:nvSpPr>
          <p:cNvPr id="14" name="Shape 10"/>
          <p:cNvSpPr/>
          <p:nvPr/>
        </p:nvSpPr>
        <p:spPr>
          <a:xfrm>
            <a:off x="6216551" y="1914525"/>
            <a:ext cx="641390" cy="641390"/>
          </a:xfrm>
          <a:prstGeom prst="roundRect">
            <a:avLst>
              <a:gd name="adj" fmla="val 142565"/>
            </a:avLst>
          </a:prstGeom>
          <a:solidFill>
            <a:srgbClr val="BE49DF"/>
          </a:solidFill>
          <a:ln/>
        </p:spPr>
      </p:sp>
      <p:sp>
        <p:nvSpPr>
          <p:cNvPr id="15" name="Text 11"/>
          <p:cNvSpPr/>
          <p:nvPr/>
        </p:nvSpPr>
        <p:spPr>
          <a:xfrm>
            <a:off x="6408956" y="2074902"/>
            <a:ext cx="256580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922996" y="2769632"/>
            <a:ext cx="2780705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Tahlil va Vizualizatsiya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4922996" y="3212306"/>
            <a:ext cx="3228499" cy="1368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Yig'ilgan ma'lumotlarni chuqur tahlil qilish, mantiqiy bog'liqliklarni aniqlash va ularni vizual tarzda (xaritalar, grafiklar) tasvirlash.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748308" y="5359122"/>
            <a:ext cx="7647384" cy="1905476"/>
          </a:xfrm>
          <a:prstGeom prst="roundRect">
            <a:avLst>
              <a:gd name="adj" fmla="val 7678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748308" y="5328642"/>
            <a:ext cx="7647384" cy="121920"/>
          </a:xfrm>
          <a:prstGeom prst="roundRect">
            <a:avLst>
              <a:gd name="adj" fmla="val 73657"/>
            </a:avLst>
          </a:prstGeom>
          <a:solidFill>
            <a:srgbClr val="BE49DF"/>
          </a:solidFill>
          <a:ln/>
        </p:spPr>
      </p:sp>
      <p:sp>
        <p:nvSpPr>
          <p:cNvPr id="20" name="Shape 16"/>
          <p:cNvSpPr/>
          <p:nvPr/>
        </p:nvSpPr>
        <p:spPr>
          <a:xfrm>
            <a:off x="4251305" y="5038487"/>
            <a:ext cx="641390" cy="641390"/>
          </a:xfrm>
          <a:prstGeom prst="roundRect">
            <a:avLst>
              <a:gd name="adj" fmla="val 142565"/>
            </a:avLst>
          </a:prstGeom>
          <a:solidFill>
            <a:srgbClr val="BE49DF"/>
          </a:solidFill>
          <a:ln/>
        </p:spPr>
      </p:sp>
      <p:sp>
        <p:nvSpPr>
          <p:cNvPr id="21" name="Text 17"/>
          <p:cNvSpPr/>
          <p:nvPr/>
        </p:nvSpPr>
        <p:spPr>
          <a:xfrm>
            <a:off x="4443710" y="5198864"/>
            <a:ext cx="256580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992505" y="5893594"/>
            <a:ext cx="2515433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Qo'llash Sohalari</a:t>
            </a:r>
            <a:endParaRPr lang="en-US" sz="1950" dirty="0"/>
          </a:p>
        </p:txBody>
      </p:sp>
      <p:sp>
        <p:nvSpPr>
          <p:cNvPr id="23" name="Text 19"/>
          <p:cNvSpPr/>
          <p:nvPr/>
        </p:nvSpPr>
        <p:spPr>
          <a:xfrm>
            <a:off x="992505" y="6336268"/>
            <a:ext cx="7158990" cy="68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Kadastr, shaharsozlik, ekologiya, qishloq xo‘jaligi, kommunikatsiya va boshqa ko‘plab sohalarda keng qo‘llaniladi.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814" y="625197"/>
            <a:ext cx="10023396" cy="66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ArcInfo va ArcView GIS: Esri Gigantlari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14" y="1890713"/>
            <a:ext cx="4092773" cy="2273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814" y="4420195"/>
            <a:ext cx="2674977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ArcInfo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95814" y="4981813"/>
            <a:ext cx="6242090" cy="1091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Esri kompaniyasi tomonidan ishlab chiqilgan bu platforma murakkab fazoviy tahlillar va katta hajmdagi ma'lumotlarni samarali boshqarish uchun mo'ljallangan.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5814" y="6277928"/>
            <a:ext cx="6242090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Kompleks fazoviy tahlil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5814" y="6721316"/>
            <a:ext cx="6242090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Katta ma'lumotlar bazasini boshqarish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5814" y="7164705"/>
            <a:ext cx="6242090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Professional foydalanuvchilar uchun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117" y="1890713"/>
            <a:ext cx="4092773" cy="22737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0117" y="4420195"/>
            <a:ext cx="2674977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ArcView GIS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7600117" y="4981813"/>
            <a:ext cx="6242090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ArcView esa ArcInfo'ga nisbatan soddaroq interfeysga ega bo'lib, xaritalar yaratish, tahrirlash va vizualizatsiya qilishga qaratilgan.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600117" y="5914073"/>
            <a:ext cx="6242090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Foydalanuvchilarga qulay interfeys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600117" y="6357461"/>
            <a:ext cx="6242090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Xaritalar yaratish va tahrirlash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600117" y="6800850"/>
            <a:ext cx="6242090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Keng auditoriya uchun mo'ljallangan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5D3F5E7-C7B3-DA61-1938-9599518915F4}"/>
              </a:ext>
            </a:extLst>
          </p:cNvPr>
          <p:cNvSpPr/>
          <p:nvPr/>
        </p:nvSpPr>
        <p:spPr>
          <a:xfrm>
            <a:off x="12753474" y="7684168"/>
            <a:ext cx="1876926" cy="54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20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242066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4206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7704" y="2954655"/>
            <a:ext cx="9085183" cy="56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QGIS: Ochiq Manba va Keng Imkoniyatlar</a:t>
            </a:r>
            <a:endParaRPr lang="en-US" sz="35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04" y="3814524"/>
            <a:ext cx="484108" cy="48410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77704" y="4540687"/>
            <a:ext cx="2278261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Ochiq Manba</a:t>
            </a:r>
            <a:endParaRPr lang="en-US" sz="1750" dirty="0"/>
          </a:p>
        </p:txBody>
      </p:sp>
      <p:sp>
        <p:nvSpPr>
          <p:cNvPr id="8" name="Text 3"/>
          <p:cNvSpPr/>
          <p:nvPr/>
        </p:nvSpPr>
        <p:spPr>
          <a:xfrm>
            <a:off x="677704" y="4941570"/>
            <a:ext cx="6516410" cy="61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Bepul va ochiq kodli dasturiy ta'minot bo'lib, har kimga o'z ehtiyojlariga ko'ra o'zgartirish va rivojlantirish imkonini beradi.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168" y="3814524"/>
            <a:ext cx="484108" cy="48410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36168" y="4540687"/>
            <a:ext cx="2278261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Ko'p Platformali</a:t>
            </a:r>
            <a:endParaRPr lang="en-US" sz="1750" dirty="0"/>
          </a:p>
        </p:txBody>
      </p:sp>
      <p:sp>
        <p:nvSpPr>
          <p:cNvPr id="11" name="Text 5"/>
          <p:cNvSpPr/>
          <p:nvPr/>
        </p:nvSpPr>
        <p:spPr>
          <a:xfrm>
            <a:off x="7436168" y="4941570"/>
            <a:ext cx="6516529" cy="61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Windows, Linux, macOS kabi turli operatsion tizimlarda muammosiz ishlaydi. Bu esa foydalanishda katta qulaylik yaratadi.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704" y="5948720"/>
            <a:ext cx="484108" cy="4841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77704" y="6674882"/>
            <a:ext cx="2278261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Keng Jamoatchilik</a:t>
            </a:r>
            <a:endParaRPr lang="en-US" sz="1750" dirty="0"/>
          </a:p>
        </p:txBody>
      </p:sp>
      <p:sp>
        <p:nvSpPr>
          <p:cNvPr id="14" name="Text 7"/>
          <p:cNvSpPr/>
          <p:nvPr/>
        </p:nvSpPr>
        <p:spPr>
          <a:xfrm>
            <a:off x="677704" y="7075765"/>
            <a:ext cx="6516410" cy="61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Katta va faol jamoatchilik tomonidan doimiy ravishda qo'llab-quvvatlanadi va rivojlantiriladi. Ko'plab plaginlar mavjud.</a:t>
            </a:r>
            <a:endParaRPr lang="en-US" sz="15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168" y="5948720"/>
            <a:ext cx="484108" cy="4841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436168" y="6674882"/>
            <a:ext cx="2896195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Kichik Byudjetli Loyihalar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7436168" y="7075765"/>
            <a:ext cx="6516529" cy="61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Moliyaviy cheklovlar mavjud bo'lgan loyihalar va ta'lim muassasalari uchun ideal echim hisoblanadi.</a:t>
            </a:r>
            <a:endParaRPr lang="en-US" sz="15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8B32142-20EA-39E9-44C0-FB485CF2466B}"/>
              </a:ext>
            </a:extLst>
          </p:cNvPr>
          <p:cNvSpPr/>
          <p:nvPr/>
        </p:nvSpPr>
        <p:spPr>
          <a:xfrm>
            <a:off x="12753474" y="7684168"/>
            <a:ext cx="1876926" cy="54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061" y="381119"/>
            <a:ext cx="7269123" cy="40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AutoCAD Map va AutoMap: Muhandislikda GIS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61" y="1152406"/>
            <a:ext cx="6661071" cy="66610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5061" y="7969329"/>
            <a:ext cx="1630799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AutoCAD Map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85061" y="8311753"/>
            <a:ext cx="6661071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AutoCAD Map 3D an'anaviy CAD chizmalarini GIS ma'lumotlari bilan birlashtirib, muhandislik va shaharsozlik sohasida katta talabga ega.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85061" y="8879800"/>
            <a:ext cx="6661071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AutoCAD asosida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5061" y="9149953"/>
            <a:ext cx="6661071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GIS va CAD integratsiyasi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5061" y="9420106"/>
            <a:ext cx="6661071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Muhandislik chizmalari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889" y="1152406"/>
            <a:ext cx="6661071" cy="66610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1889" y="7969329"/>
            <a:ext cx="1630799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AutoMap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491889" y="8311753"/>
            <a:ext cx="6661071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AutoMap esa avtomatlashtirilgan xaritalash jarayonlarini soddalashtirish va ma'lumotlarni boshqarish uchun ishlatiladi.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491889" y="8879800"/>
            <a:ext cx="6661071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Avtomatlashtirilgan xaritalash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491889" y="9149953"/>
            <a:ext cx="6661071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Ma'lumotlarni boshqarish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491889" y="9420106"/>
            <a:ext cx="6661071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Geometrik aniqlik</a:t>
            </a:r>
            <a:endParaRPr lang="en-US" sz="10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24AA4C3-5007-82AD-65B1-1ECB96EF9756}"/>
              </a:ext>
            </a:extLst>
          </p:cNvPr>
          <p:cNvSpPr/>
          <p:nvPr/>
        </p:nvSpPr>
        <p:spPr>
          <a:xfrm>
            <a:off x="12753474" y="7684168"/>
            <a:ext cx="1876926" cy="54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0507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4119" y="2501860"/>
            <a:ext cx="11287839" cy="482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GeoDRAW va ГеоГраф/ГеоКонструктор: Mahalliy Yechimlar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74119" y="3230285"/>
            <a:ext cx="1348216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 tizimlar Rossiya hududida ishlab chiqilgan bo'lib, o'ziga xos xususiyatlari bilan ajralib turadi.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03770" y="3677245"/>
            <a:ext cx="22860" cy="4104203"/>
          </a:xfrm>
          <a:prstGeom prst="roundRect">
            <a:avLst>
              <a:gd name="adj" fmla="val 301428"/>
            </a:avLst>
          </a:prstGeom>
          <a:solidFill>
            <a:srgbClr val="D6BADD"/>
          </a:solidFill>
          <a:ln/>
        </p:spPr>
      </p:sp>
      <p:sp>
        <p:nvSpPr>
          <p:cNvPr id="6" name="Shape 3"/>
          <p:cNvSpPr/>
          <p:nvPr/>
        </p:nvSpPr>
        <p:spPr>
          <a:xfrm>
            <a:off x="551259" y="3677245"/>
            <a:ext cx="6741081" cy="1888093"/>
          </a:xfrm>
          <a:prstGeom prst="roundRect">
            <a:avLst>
              <a:gd name="adj" fmla="val 365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98269" y="3848814"/>
            <a:ext cx="1930122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GeoDRAW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2828" y="4188381"/>
            <a:ext cx="6405563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GeoDRAW asosan kartografik chizmalar yaratish va ularni tahrirlashga yo'naltirilgan bo'lib, vizualizatsiya imkoniyatlari yuqori.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22828" y="4811554"/>
            <a:ext cx="6405563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Qulay kartografik vositalar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22828" y="5131356"/>
            <a:ext cx="6405563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Chizmachilikka yo'naltirilgan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38060" y="5893356"/>
            <a:ext cx="6741081" cy="1888093"/>
          </a:xfrm>
          <a:prstGeom prst="rect">
            <a:avLst/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02009" y="6064925"/>
            <a:ext cx="2483168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ГеоГраф/ГеоКонструктор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02009" y="6404491"/>
            <a:ext cx="6405563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ГеоГраф/ГеоКонструктор esa murakkab geografik modellarni yaratish va chuqur tahlillar o'tkazish uchun keng imkoniyatlar beradi.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502009" y="7027664"/>
            <a:ext cx="6405563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Geografik modellashtirish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02009" y="7347466"/>
            <a:ext cx="6405563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Murakkab tahlil funksiyalari</a:t>
            </a:r>
            <a:endParaRPr lang="en-US" sz="12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D6FEA01-D404-4A58-8920-802DC0ABB22B}"/>
              </a:ext>
            </a:extLst>
          </p:cNvPr>
          <p:cNvSpPr/>
          <p:nvPr/>
        </p:nvSpPr>
        <p:spPr>
          <a:xfrm>
            <a:off x="12753474" y="7684168"/>
            <a:ext cx="1876926" cy="54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887" y="1112282"/>
            <a:ext cx="790622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GeoMedia va GeoMedia Professional: Korporativ Darajadagi GIS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884158" y="2616637"/>
            <a:ext cx="7640955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Intergraph kompaniyasi tomonidan ishlab chiqarilgan GeoMedia va GeoMedia Professional, katta hajmdagi geografik ma'lumotlarni boshqarish va tahlil qilishda yuqori samaradorlikni ta'minlaydi.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18887" y="2417683"/>
            <a:ext cx="22860" cy="963692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6" name="Shape 3"/>
          <p:cNvSpPr/>
          <p:nvPr/>
        </p:nvSpPr>
        <p:spPr>
          <a:xfrm>
            <a:off x="795695" y="3845600"/>
            <a:ext cx="176808" cy="795695"/>
          </a:xfrm>
          <a:prstGeom prst="roundRect">
            <a:avLst>
              <a:gd name="adj" fmla="val 42012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8887" y="3729514"/>
            <a:ext cx="530543" cy="530543"/>
          </a:xfrm>
          <a:prstGeom prst="roundRect">
            <a:avLst>
              <a:gd name="adj" fmla="val 8617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23" y="3829050"/>
            <a:ext cx="265271" cy="3315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6237" y="3757136"/>
            <a:ext cx="2644140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Ma'lumotlar Integratsiyasi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26237" y="4123372"/>
            <a:ext cx="7198876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Turli manbalardagi ma'lumotlarni birlashtirish va ularni yagona tizimda boshqarish imkoniyati.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060966" y="5083493"/>
            <a:ext cx="176808" cy="795695"/>
          </a:xfrm>
          <a:prstGeom prst="roundRect">
            <a:avLst>
              <a:gd name="adj" fmla="val 42012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84158" y="4967407"/>
            <a:ext cx="530543" cy="530543"/>
          </a:xfrm>
          <a:prstGeom prst="roundRect">
            <a:avLst>
              <a:gd name="adj" fmla="val 8617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94" y="5066943"/>
            <a:ext cx="265271" cy="33158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91508" y="4995029"/>
            <a:ext cx="2080617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Kuchli Tahlil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91508" y="5361265"/>
            <a:ext cx="6933605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Kompleks fazoviy tahlillar o'tkazish, mantiqiy aloqalarni aniqlash va prognozlar qilish.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1326237" y="6321385"/>
            <a:ext cx="176808" cy="795695"/>
          </a:xfrm>
          <a:prstGeom prst="roundRect">
            <a:avLst>
              <a:gd name="adj" fmla="val 42012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49429" y="6205299"/>
            <a:ext cx="530543" cy="530543"/>
          </a:xfrm>
          <a:prstGeom prst="roundRect">
            <a:avLst>
              <a:gd name="adj" fmla="val 8617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065" y="6304836"/>
            <a:ext cx="265271" cy="33158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56780" y="6232922"/>
            <a:ext cx="2167414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Korporativ Yechimlar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856780" y="6599158"/>
            <a:ext cx="666833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Yirik tashkilotlar va korporativ darajadagi loyihalar uchun maxsus yaratilgan.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930" y="610076"/>
            <a:ext cx="13078539" cy="130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MGE va MAPINFO PROFESSIONAL: Ko'p Qirrali Yechimlar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298" y="2500551"/>
            <a:ext cx="3891201" cy="266069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783" y="2500551"/>
            <a:ext cx="3891201" cy="26606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930" y="5775246"/>
            <a:ext cx="4139684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MGE (Modular GIS Environment)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75930" y="6322933"/>
            <a:ext cx="626887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Modulli arxitektura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75930" y="6755130"/>
            <a:ext cx="626887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Moslashuvchanlik va kengaytirilish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75930" y="7187327"/>
            <a:ext cx="626887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Integratsiyalashgan ish oqimlari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593211" y="5775246"/>
            <a:ext cx="3244810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MAPINFO PROFESSIONAL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7593211" y="6322933"/>
            <a:ext cx="626887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Foydalanuvchilarga qulaylik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593211" y="6755130"/>
            <a:ext cx="626887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Tezkor xaritalash va tahlil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593211" y="7187327"/>
            <a:ext cx="626887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Iqtisodiyot va marketingda foydalanish</a:t>
            </a:r>
            <a:endParaRPr lang="en-US" sz="17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325EECD-39BC-FA6D-15D6-DA1623CD9C79}"/>
              </a:ext>
            </a:extLst>
          </p:cNvPr>
          <p:cNvSpPr/>
          <p:nvPr/>
        </p:nvSpPr>
        <p:spPr>
          <a:xfrm>
            <a:off x="12753474" y="7684168"/>
            <a:ext cx="1876926" cy="54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361361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WINGIS Tizimi: Rossiyadan Kelgan Variant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196697" y="3397568"/>
            <a:ext cx="710957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WINGIS tizimi Rossiyalik ishlab chiquvchilar tomonidan yaratilgan bo'lib, ayniqsa kichik va o'rta hajmdagi GIS loyihalari uchun qulay hisoblanadi.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3128367"/>
            <a:ext cx="30480" cy="1687473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6" name="Text 3"/>
          <p:cNvSpPr/>
          <p:nvPr/>
        </p:nvSpPr>
        <p:spPr>
          <a:xfrm>
            <a:off x="837724" y="508504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Rossiya dasturiy ta'minoti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555176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Kichik va o'rta loyihalar uchun ideal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601849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O'zbekistonda ham qo'llash imkoniyati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7724" y="648521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Maxsus lokalizatsiya imkoniyatlari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9113" y="407908"/>
            <a:ext cx="5890736" cy="43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Xulosa: To'g'ri GIS Tizimini Tanlash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88" y="1140619"/>
            <a:ext cx="13372505" cy="6573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72399" y="1730141"/>
            <a:ext cx="2878075" cy="359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Tavsiya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172399" y="2198422"/>
            <a:ext cx="6184292" cy="305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QGIS, ArcGIS yoki maxsus tizim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090" y="1899614"/>
            <a:ext cx="434939" cy="4349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72399" y="3266020"/>
            <a:ext cx="2878075" cy="359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Texnik imkoniyatlar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172399" y="3734301"/>
            <a:ext cx="6184292" cy="305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Server, integratsiya va qo'llab‑quvvatlash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6090" y="3231615"/>
            <a:ext cx="434939" cy="4349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72399" y="4801899"/>
            <a:ext cx="2878075" cy="359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Byudjet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7172399" y="5270180"/>
            <a:ext cx="6184292" cy="305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Bepul, o'rtacha yoki korporativ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6090" y="4550025"/>
            <a:ext cx="434939" cy="4349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85992" y="6337778"/>
            <a:ext cx="2878074" cy="359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Loyiha maqsadi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7185992" y="6806059"/>
            <a:ext cx="6184292" cy="305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Xarita va tahlil maqsadini belgilash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6090" y="6085904"/>
            <a:ext cx="434939" cy="43493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9113" y="7881104"/>
            <a:ext cx="1359217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GIS tizimini tanlashda loyihaning maqsadi, byudjet imkoniyatlari va texnik talablarni aniq belgilash muhimdir. Har bir tizimning o'ziga xos afzalliklari va cheklovlari bor.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519113" y="8285202"/>
            <a:ext cx="1359217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Aniqlik: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Loyihaning aniq maqsadlari va talablarini belgilash.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519113" y="8574405"/>
            <a:ext cx="1359217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Imkoniyat: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Byudjet va mavjud texnik resurslarni hisobga olish.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519113" y="8863608"/>
            <a:ext cx="1359217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Integratsiya: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Boshqa tizimlar bilan integratsiya imkoniyatlarini baholash.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519113" y="9152811"/>
            <a:ext cx="13592175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Qo'llab-quvvatlash: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Tizimni qo'llab-quvvatlash va rivojlantirish imkoniyatlari.</a:t>
            </a:r>
            <a:endParaRPr lang="en-US" sz="115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CF560B5-07E6-C655-C181-963EBE99649F}"/>
              </a:ext>
            </a:extLst>
          </p:cNvPr>
          <p:cNvSpPr/>
          <p:nvPr/>
        </p:nvSpPr>
        <p:spPr>
          <a:xfrm>
            <a:off x="12753474" y="7684168"/>
            <a:ext cx="1876926" cy="54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Microsoft Office PowerPoint</Application>
  <PresentationFormat>Произвольный</PresentationFormat>
  <Paragraphs>99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Source Serif 4 Semi Bold</vt:lpstr>
      <vt:lpstr>Source Sans 3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Azizbek</cp:lastModifiedBy>
  <cp:revision>2</cp:revision>
  <dcterms:created xsi:type="dcterms:W3CDTF">2025-10-05T13:54:42Z</dcterms:created>
  <dcterms:modified xsi:type="dcterms:W3CDTF">2025-10-05T15:05:25Z</dcterms:modified>
</cp:coreProperties>
</file>